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8" r:id="rId2"/>
    <p:sldId id="256" r:id="rId3"/>
    <p:sldId id="259" r:id="rId4"/>
    <p:sldId id="261" r:id="rId5"/>
    <p:sldId id="262" r:id="rId6"/>
    <p:sldId id="264"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anch\OneDrive\Desktop\LDSN\Lidl%20Case%20Study\candy-case-study\outputs\candy-data-with-GPRpreds.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anch\OneDrive\Desktop\LDSN\Lidl%20Case%20Study\candy-case-study\outputs\candy-data-with-GPRpreds.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anch\OneDrive\Desktop\LDSN\Lidl%20Case%20Study\candy-case-study\outputs\presentation_plots\ppt_plot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Pt>
            <c:idx val="5"/>
            <c:invertIfNegative val="0"/>
            <c:bubble3D val="0"/>
            <c:spPr>
              <a:solidFill>
                <a:schemeClr val="accent2"/>
              </a:solidFill>
              <a:ln>
                <a:noFill/>
              </a:ln>
              <a:effectLst/>
            </c:spPr>
            <c:extLst>
              <c:ext xmlns:c16="http://schemas.microsoft.com/office/drawing/2014/chart" uri="{C3380CC4-5D6E-409C-BE32-E72D297353CC}">
                <c16:uniqueId val="{00000001-83C6-49C8-ABC4-22EB2939539E}"/>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3-83C6-49C8-ABC4-22EB2939539E}"/>
              </c:ext>
            </c:extLst>
          </c:dPt>
          <c:cat>
            <c:strRef>
              <c:f>Sheet1!$G$2:$G$8</c:f>
              <c:strCache>
                <c:ptCount val="7"/>
                <c:pt idx="0">
                  <c:v>PluriBus</c:v>
                </c:pt>
                <c:pt idx="1">
                  <c:v>Hard</c:v>
                </c:pt>
                <c:pt idx="2">
                  <c:v>CrispedRiceWafer</c:v>
                </c:pt>
                <c:pt idx="3">
                  <c:v>PeanutyAlmondy</c:v>
                </c:pt>
                <c:pt idx="4">
                  <c:v>Chocolate</c:v>
                </c:pt>
                <c:pt idx="5">
                  <c:v>Best In Market</c:v>
                </c:pt>
                <c:pt idx="6">
                  <c:v>Merket Average</c:v>
                </c:pt>
              </c:strCache>
            </c:strRef>
          </c:cat>
          <c:val>
            <c:numRef>
              <c:f>Sheet1!$H$2:$H$8</c:f>
              <c:numCache>
                <c:formatCode>General</c:formatCode>
                <c:ptCount val="7"/>
                <c:pt idx="0">
                  <c:v>50.0689755311993</c:v>
                </c:pt>
                <c:pt idx="1">
                  <c:v>42.803039046126202</c:v>
                </c:pt>
                <c:pt idx="2">
                  <c:v>56.4538333107974</c:v>
                </c:pt>
                <c:pt idx="3">
                  <c:v>54.5106835900988</c:v>
                </c:pt>
                <c:pt idx="4">
                  <c:v>61.6256745889944</c:v>
                </c:pt>
                <c:pt idx="5">
                  <c:v>84</c:v>
                </c:pt>
                <c:pt idx="6">
                  <c:v>50</c:v>
                </c:pt>
              </c:numCache>
            </c:numRef>
          </c:val>
          <c:extLst>
            <c:ext xmlns:c16="http://schemas.microsoft.com/office/drawing/2014/chart" uri="{C3380CC4-5D6E-409C-BE32-E72D297353CC}">
              <c16:uniqueId val="{00000004-83C6-49C8-ABC4-22EB2939539E}"/>
            </c:ext>
          </c:extLst>
        </c:ser>
        <c:dLbls>
          <c:showLegendKey val="0"/>
          <c:showVal val="0"/>
          <c:showCatName val="0"/>
          <c:showSerName val="0"/>
          <c:showPercent val="0"/>
          <c:showBubbleSize val="0"/>
        </c:dLbls>
        <c:gapWidth val="219"/>
        <c:overlap val="-27"/>
        <c:axId val="1380845679"/>
        <c:axId val="1380853359"/>
      </c:barChart>
      <c:catAx>
        <c:axId val="1380845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0853359"/>
        <c:crosses val="autoZero"/>
        <c:auto val="1"/>
        <c:lblAlgn val="ctr"/>
        <c:lblOffset val="100"/>
        <c:noMultiLvlLbl val="0"/>
      </c:catAx>
      <c:valAx>
        <c:axId val="13808533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Expected</a:t>
                </a:r>
                <a:r>
                  <a:rPr lang="en-US" baseline="0" dirty="0"/>
                  <a:t> Customer Preference</a:t>
                </a:r>
                <a:endParaRPr lang="en-IN"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08456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Selected</a:t>
            </a:r>
            <a:r>
              <a:rPr lang="en-IN" baseline="0" dirty="0"/>
              <a:t> Features with their relative importance</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spPr>
            <a:solidFill>
              <a:schemeClr val="accent1"/>
            </a:solidFill>
            <a:ln>
              <a:noFill/>
            </a:ln>
            <a:effectLst/>
          </c:spPr>
          <c:invertIfNegative val="0"/>
          <c:cat>
            <c:strRef>
              <c:f>Sheet2!$A$2:$A$8</c:f>
              <c:strCache>
                <c:ptCount val="7"/>
                <c:pt idx="0">
                  <c:v>Chocolate</c:v>
                </c:pt>
                <c:pt idx="1">
                  <c:v>Fruity</c:v>
                </c:pt>
                <c:pt idx="2">
                  <c:v>Hard</c:v>
                </c:pt>
                <c:pt idx="3">
                  <c:v>PeanutyAlmondy</c:v>
                </c:pt>
                <c:pt idx="4">
                  <c:v>CrispedRiceWafer</c:v>
                </c:pt>
                <c:pt idx="5">
                  <c:v>SugarPercent</c:v>
                </c:pt>
                <c:pt idx="6">
                  <c:v>PluriBus</c:v>
                </c:pt>
              </c:strCache>
            </c:strRef>
          </c:cat>
          <c:val>
            <c:numRef>
              <c:f>Sheet2!$C$2:$C$8</c:f>
              <c:numCache>
                <c:formatCode>General</c:formatCode>
                <c:ptCount val="7"/>
                <c:pt idx="0">
                  <c:v>8.9037959704339702</c:v>
                </c:pt>
                <c:pt idx="1">
                  <c:v>4.6902806384325997</c:v>
                </c:pt>
                <c:pt idx="2">
                  <c:v>3.1805500095611299</c:v>
                </c:pt>
                <c:pt idx="3">
                  <c:v>3.0199765063664801</c:v>
                </c:pt>
                <c:pt idx="4">
                  <c:v>2.2108457747825101</c:v>
                </c:pt>
                <c:pt idx="5">
                  <c:v>1.73091639989237</c:v>
                </c:pt>
                <c:pt idx="6">
                  <c:v>1.41296788165442</c:v>
                </c:pt>
              </c:numCache>
            </c:numRef>
          </c:val>
          <c:extLst>
            <c:ext xmlns:c16="http://schemas.microsoft.com/office/drawing/2014/chart" uri="{C3380CC4-5D6E-409C-BE32-E72D297353CC}">
              <c16:uniqueId val="{00000000-A203-4065-BEC0-531D3F69BE4A}"/>
            </c:ext>
          </c:extLst>
        </c:ser>
        <c:dLbls>
          <c:showLegendKey val="0"/>
          <c:showVal val="0"/>
          <c:showCatName val="0"/>
          <c:showSerName val="0"/>
          <c:showPercent val="0"/>
          <c:showBubbleSize val="0"/>
        </c:dLbls>
        <c:gapWidth val="219"/>
        <c:overlap val="-27"/>
        <c:axId val="726426319"/>
        <c:axId val="726420079"/>
      </c:barChart>
      <c:catAx>
        <c:axId val="7264263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6420079"/>
        <c:crosses val="autoZero"/>
        <c:auto val="1"/>
        <c:lblAlgn val="ctr"/>
        <c:lblOffset val="100"/>
        <c:noMultiLvlLbl val="0"/>
      </c:catAx>
      <c:valAx>
        <c:axId val="7264200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Feature importance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64263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v>Train Set</c:v>
          </c:tx>
          <c:spPr>
            <a:ln w="19050" cap="rnd">
              <a:noFill/>
              <a:round/>
            </a:ln>
            <a:effectLst/>
          </c:spPr>
          <c:marker>
            <c:symbol val="circle"/>
            <c:size val="5"/>
            <c:spPr>
              <a:solidFill>
                <a:schemeClr val="accent1"/>
              </a:solidFill>
              <a:ln w="9525">
                <a:solidFill>
                  <a:schemeClr val="accent1"/>
                </a:solidFill>
              </a:ln>
              <a:effectLst/>
            </c:spPr>
          </c:marker>
          <c:xVal>
            <c:numRef>
              <c:f>model_prediction!$N$2:$N$77</c:f>
              <c:numCache>
                <c:formatCode>General</c:formatCode>
                <c:ptCount val="76"/>
                <c:pt idx="0">
                  <c:v>41.389557000000003</c:v>
                </c:pt>
                <c:pt idx="1">
                  <c:v>55.064072000000003</c:v>
                </c:pt>
                <c:pt idx="2">
                  <c:v>73.434989999999999</c:v>
                </c:pt>
                <c:pt idx="3">
                  <c:v>66.470680000000002</c:v>
                </c:pt>
                <c:pt idx="4">
                  <c:v>34.158957999999998</c:v>
                </c:pt>
                <c:pt idx="5">
                  <c:v>52.911391999999999</c:v>
                </c:pt>
                <c:pt idx="6">
                  <c:v>38.010962999999997</c:v>
                </c:pt>
                <c:pt idx="7">
                  <c:v>60.800700999999997</c:v>
                </c:pt>
                <c:pt idx="8">
                  <c:v>34.517681000000003</c:v>
                </c:pt>
                <c:pt idx="9">
                  <c:v>47.173228999999999</c:v>
                </c:pt>
                <c:pt idx="10">
                  <c:v>81.642914000000005</c:v>
                </c:pt>
                <c:pt idx="11">
                  <c:v>76.768600000000006</c:v>
                </c:pt>
                <c:pt idx="12">
                  <c:v>63.085140000000003</c:v>
                </c:pt>
                <c:pt idx="13">
                  <c:v>45.466282</c:v>
                </c:pt>
                <c:pt idx="14">
                  <c:v>41.904308</c:v>
                </c:pt>
                <c:pt idx="15">
                  <c:v>56.490501000000002</c:v>
                </c:pt>
                <c:pt idx="16">
                  <c:v>51.412430000000001</c:v>
                </c:pt>
                <c:pt idx="17">
                  <c:v>22.445340999999999</c:v>
                </c:pt>
                <c:pt idx="18">
                  <c:v>49.653503000000001</c:v>
                </c:pt>
                <c:pt idx="19">
                  <c:v>62.284481</c:v>
                </c:pt>
                <c:pt idx="20">
                  <c:v>81.866257000000004</c:v>
                </c:pt>
                <c:pt idx="21">
                  <c:v>45.995826999999998</c:v>
                </c:pt>
                <c:pt idx="22">
                  <c:v>34.578991000000002</c:v>
                </c:pt>
                <c:pt idx="23">
                  <c:v>67.602936</c:v>
                </c:pt>
                <c:pt idx="24">
                  <c:v>59.529251000000002</c:v>
                </c:pt>
                <c:pt idx="25">
                  <c:v>48.982650999999997</c:v>
                </c:pt>
                <c:pt idx="26">
                  <c:v>39.460555999999997</c:v>
                </c:pt>
                <c:pt idx="27">
                  <c:v>33.437550000000002</c:v>
                </c:pt>
                <c:pt idx="28">
                  <c:v>39.185504999999999</c:v>
                </c:pt>
                <c:pt idx="29">
                  <c:v>28.127438999999999</c:v>
                </c:pt>
                <c:pt idx="30">
                  <c:v>56.914546999999999</c:v>
                </c:pt>
                <c:pt idx="31">
                  <c:v>34.722000000000001</c:v>
                </c:pt>
                <c:pt idx="32">
                  <c:v>42.849144000000003</c:v>
                </c:pt>
                <c:pt idx="33">
                  <c:v>43.088923999999999</c:v>
                </c:pt>
                <c:pt idx="34">
                  <c:v>45.736747999999999</c:v>
                </c:pt>
                <c:pt idx="35">
                  <c:v>57.11974</c:v>
                </c:pt>
                <c:pt idx="36">
                  <c:v>42.272075999999998</c:v>
                </c:pt>
                <c:pt idx="37">
                  <c:v>55.375453999999998</c:v>
                </c:pt>
                <c:pt idx="38">
                  <c:v>38.975037</c:v>
                </c:pt>
                <c:pt idx="39">
                  <c:v>44.375518999999997</c:v>
                </c:pt>
                <c:pt idx="40">
                  <c:v>36.017628000000002</c:v>
                </c:pt>
                <c:pt idx="41">
                  <c:v>66.971725000000006</c:v>
                </c:pt>
                <c:pt idx="42">
                  <c:v>50.347546000000001</c:v>
                </c:pt>
                <c:pt idx="43">
                  <c:v>70.735641000000001</c:v>
                </c:pt>
                <c:pt idx="44">
                  <c:v>46.116504999999997</c:v>
                </c:pt>
                <c:pt idx="45">
                  <c:v>54.526451000000002</c:v>
                </c:pt>
                <c:pt idx="46">
                  <c:v>24.524988</c:v>
                </c:pt>
                <c:pt idx="47">
                  <c:v>37.887188000000002</c:v>
                </c:pt>
                <c:pt idx="48">
                  <c:v>46.411715999999998</c:v>
                </c:pt>
                <c:pt idx="49">
                  <c:v>57.219250000000002</c:v>
                </c:pt>
                <c:pt idx="50">
                  <c:v>39.141055999999999</c:v>
                </c:pt>
                <c:pt idx="51">
                  <c:v>72.887900999999999</c:v>
                </c:pt>
                <c:pt idx="52">
                  <c:v>42.178772000000002</c:v>
                </c:pt>
                <c:pt idx="53">
                  <c:v>66.574584999999999</c:v>
                </c:pt>
                <c:pt idx="54">
                  <c:v>64.353340000000003</c:v>
                </c:pt>
                <c:pt idx="55">
                  <c:v>84.180289999999999</c:v>
                </c:pt>
                <c:pt idx="56">
                  <c:v>23.417824</c:v>
                </c:pt>
                <c:pt idx="57">
                  <c:v>37.722335999999999</c:v>
                </c:pt>
                <c:pt idx="58">
                  <c:v>55.103695000000002</c:v>
                </c:pt>
                <c:pt idx="59">
                  <c:v>39.011898000000002</c:v>
                </c:pt>
                <c:pt idx="60">
                  <c:v>49.524113</c:v>
                </c:pt>
                <c:pt idx="61">
                  <c:v>47.829754000000001</c:v>
                </c:pt>
                <c:pt idx="62">
                  <c:v>32.261085999999999</c:v>
                </c:pt>
                <c:pt idx="63">
                  <c:v>52.825946999999999</c:v>
                </c:pt>
                <c:pt idx="64">
                  <c:v>35.290756000000002</c:v>
                </c:pt>
                <c:pt idx="65">
                  <c:v>41.265510999999996</c:v>
                </c:pt>
                <c:pt idx="66">
                  <c:v>67.037627999999998</c:v>
                </c:pt>
                <c:pt idx="67">
                  <c:v>73.099556000000007</c:v>
                </c:pt>
                <c:pt idx="68">
                  <c:v>59.236122000000002</c:v>
                </c:pt>
                <c:pt idx="69">
                  <c:v>46.296596999999998</c:v>
                </c:pt>
                <c:pt idx="70">
                  <c:v>71.465050000000005</c:v>
                </c:pt>
                <c:pt idx="71">
                  <c:v>54.861111000000001</c:v>
                </c:pt>
                <c:pt idx="72">
                  <c:v>69.483788000000004</c:v>
                </c:pt>
                <c:pt idx="73">
                  <c:v>29.703690999999999</c:v>
                </c:pt>
                <c:pt idx="74">
                  <c:v>46.783347999999997</c:v>
                </c:pt>
                <c:pt idx="75">
                  <c:v>59.863998000000002</c:v>
                </c:pt>
              </c:numCache>
            </c:numRef>
          </c:xVal>
          <c:yVal>
            <c:numRef>
              <c:f>model_prediction!$S$2:$S$77</c:f>
              <c:numCache>
                <c:formatCode>General</c:formatCode>
                <c:ptCount val="76"/>
                <c:pt idx="0">
                  <c:v>45.269537246686397</c:v>
                </c:pt>
                <c:pt idx="1">
                  <c:v>51.088415954419901</c:v>
                </c:pt>
                <c:pt idx="2">
                  <c:v>61.219462837940497</c:v>
                </c:pt>
                <c:pt idx="3">
                  <c:v>65.935583428018106</c:v>
                </c:pt>
                <c:pt idx="4">
                  <c:v>38.441240611721497</c:v>
                </c:pt>
                <c:pt idx="5">
                  <c:v>45.384130458749702</c:v>
                </c:pt>
                <c:pt idx="6">
                  <c:v>42.544714258988598</c:v>
                </c:pt>
                <c:pt idx="7">
                  <c:v>58.817975286300602</c:v>
                </c:pt>
                <c:pt idx="8">
                  <c:v>46.8870820677868</c:v>
                </c:pt>
                <c:pt idx="9">
                  <c:v>44.927774541583403</c:v>
                </c:pt>
                <c:pt idx="10">
                  <c:v>66.295960790564294</c:v>
                </c:pt>
                <c:pt idx="11">
                  <c:v>65.935583428018106</c:v>
                </c:pt>
                <c:pt idx="12">
                  <c:v>49.477466663158197</c:v>
                </c:pt>
                <c:pt idx="13">
                  <c:v>45.269537246686397</c:v>
                </c:pt>
                <c:pt idx="14">
                  <c:v>36.877744749353504</c:v>
                </c:pt>
                <c:pt idx="15">
                  <c:v>56.316252447928797</c:v>
                </c:pt>
                <c:pt idx="16">
                  <c:v>45.763764834890402</c:v>
                </c:pt>
                <c:pt idx="17">
                  <c:v>44.464325826027398</c:v>
                </c:pt>
                <c:pt idx="18">
                  <c:v>56.606536340945297</c:v>
                </c:pt>
                <c:pt idx="19">
                  <c:v>66.185833870685698</c:v>
                </c:pt>
                <c:pt idx="20">
                  <c:v>61.183369598288103</c:v>
                </c:pt>
                <c:pt idx="21">
                  <c:v>38.374906369294898</c:v>
                </c:pt>
                <c:pt idx="22">
                  <c:v>39.599554295729398</c:v>
                </c:pt>
                <c:pt idx="23">
                  <c:v>57.770512734984102</c:v>
                </c:pt>
                <c:pt idx="24">
                  <c:v>66.194469417577096</c:v>
                </c:pt>
                <c:pt idx="25">
                  <c:v>50.4073178220982</c:v>
                </c:pt>
                <c:pt idx="26">
                  <c:v>40.665245778324</c:v>
                </c:pt>
                <c:pt idx="27">
                  <c:v>43.210448030990001</c:v>
                </c:pt>
                <c:pt idx="28">
                  <c:v>40.665245778324</c:v>
                </c:pt>
                <c:pt idx="29">
                  <c:v>38.289724863225103</c:v>
                </c:pt>
                <c:pt idx="30">
                  <c:v>65.992185866331596</c:v>
                </c:pt>
                <c:pt idx="31">
                  <c:v>50.421973288530502</c:v>
                </c:pt>
                <c:pt idx="32">
                  <c:v>41.950589091318399</c:v>
                </c:pt>
                <c:pt idx="33">
                  <c:v>44.263304163343598</c:v>
                </c:pt>
                <c:pt idx="34">
                  <c:v>50.0751308676357</c:v>
                </c:pt>
                <c:pt idx="35">
                  <c:v>45.763764834890402</c:v>
                </c:pt>
                <c:pt idx="36">
                  <c:v>47.720490400831899</c:v>
                </c:pt>
                <c:pt idx="37">
                  <c:v>49.742703463830601</c:v>
                </c:pt>
                <c:pt idx="38">
                  <c:v>57.770512734984102</c:v>
                </c:pt>
                <c:pt idx="39">
                  <c:v>44.927774541583403</c:v>
                </c:pt>
                <c:pt idx="40">
                  <c:v>47.720490400831899</c:v>
                </c:pt>
                <c:pt idx="41">
                  <c:v>66.176013256419694</c:v>
                </c:pt>
                <c:pt idx="42">
                  <c:v>64.869001882872595</c:v>
                </c:pt>
                <c:pt idx="43">
                  <c:v>65.992185866331596</c:v>
                </c:pt>
                <c:pt idx="44">
                  <c:v>41.040981274336801</c:v>
                </c:pt>
                <c:pt idx="45">
                  <c:v>63.563206616960002</c:v>
                </c:pt>
                <c:pt idx="46">
                  <c:v>44.106033320210301</c:v>
                </c:pt>
                <c:pt idx="47">
                  <c:v>50.796832554406798</c:v>
                </c:pt>
                <c:pt idx="48">
                  <c:v>48.890576874419303</c:v>
                </c:pt>
                <c:pt idx="49">
                  <c:v>50.245979308148598</c:v>
                </c:pt>
                <c:pt idx="50">
                  <c:v>39.353383501741497</c:v>
                </c:pt>
                <c:pt idx="51">
                  <c:v>68.233381625305896</c:v>
                </c:pt>
                <c:pt idx="52">
                  <c:v>45.763764834890402</c:v>
                </c:pt>
                <c:pt idx="53">
                  <c:v>56.049127594348199</c:v>
                </c:pt>
                <c:pt idx="54">
                  <c:v>60.4977625996858</c:v>
                </c:pt>
                <c:pt idx="55">
                  <c:v>66.831970839991797</c:v>
                </c:pt>
                <c:pt idx="56">
                  <c:v>44.077486833201803</c:v>
                </c:pt>
                <c:pt idx="57">
                  <c:v>37.168726584585102</c:v>
                </c:pt>
                <c:pt idx="58">
                  <c:v>49.477466663158197</c:v>
                </c:pt>
                <c:pt idx="59">
                  <c:v>39.2321917380537</c:v>
                </c:pt>
                <c:pt idx="60">
                  <c:v>59.547286176520501</c:v>
                </c:pt>
                <c:pt idx="61">
                  <c:v>55.372574577011498</c:v>
                </c:pt>
                <c:pt idx="62">
                  <c:v>41.040981274336801</c:v>
                </c:pt>
                <c:pt idx="63">
                  <c:v>44.142477762681601</c:v>
                </c:pt>
                <c:pt idx="64">
                  <c:v>40.665245778324</c:v>
                </c:pt>
                <c:pt idx="65">
                  <c:v>39.822235039440201</c:v>
                </c:pt>
                <c:pt idx="66">
                  <c:v>44.325440733518597</c:v>
                </c:pt>
                <c:pt idx="67">
                  <c:v>57.770512734984102</c:v>
                </c:pt>
                <c:pt idx="68">
                  <c:v>56.316252447928797</c:v>
                </c:pt>
                <c:pt idx="69">
                  <c:v>48.345991617649297</c:v>
                </c:pt>
                <c:pt idx="70">
                  <c:v>65.0394404813823</c:v>
                </c:pt>
                <c:pt idx="71">
                  <c:v>46.7202069077346</c:v>
                </c:pt>
                <c:pt idx="72">
                  <c:v>63.051869941114902</c:v>
                </c:pt>
                <c:pt idx="73">
                  <c:v>35.801623858144303</c:v>
                </c:pt>
                <c:pt idx="74">
                  <c:v>42.261661608596697</c:v>
                </c:pt>
                <c:pt idx="75">
                  <c:v>44.142477762681601</c:v>
                </c:pt>
              </c:numCache>
            </c:numRef>
          </c:yVal>
          <c:smooth val="0"/>
          <c:extLst>
            <c:ext xmlns:c16="http://schemas.microsoft.com/office/drawing/2014/chart" uri="{C3380CC4-5D6E-409C-BE32-E72D297353CC}">
              <c16:uniqueId val="{00000000-9247-45BC-AF2A-F991422B9D76}"/>
            </c:ext>
          </c:extLst>
        </c:ser>
        <c:ser>
          <c:idx val="1"/>
          <c:order val="1"/>
          <c:tx>
            <c:v>Test Set</c:v>
          </c:tx>
          <c:spPr>
            <a:ln w="25400" cap="rnd">
              <a:noFill/>
              <a:round/>
            </a:ln>
            <a:effectLst/>
          </c:spPr>
          <c:marker>
            <c:symbol val="circle"/>
            <c:size val="5"/>
            <c:spPr>
              <a:solidFill>
                <a:schemeClr val="accent2"/>
              </a:solidFill>
              <a:ln w="9525">
                <a:solidFill>
                  <a:schemeClr val="accent2"/>
                </a:solidFill>
              </a:ln>
              <a:effectLst/>
            </c:spPr>
          </c:marker>
          <c:xVal>
            <c:numRef>
              <c:f>model_prediction!$N$78:$N$86</c:f>
              <c:numCache>
                <c:formatCode>General</c:formatCode>
                <c:ptCount val="9"/>
                <c:pt idx="0">
                  <c:v>76.673782000000003</c:v>
                </c:pt>
                <c:pt idx="1">
                  <c:v>27.303864999999998</c:v>
                </c:pt>
                <c:pt idx="2">
                  <c:v>37.348522000000003</c:v>
                </c:pt>
                <c:pt idx="3">
                  <c:v>52.341464999999999</c:v>
                </c:pt>
                <c:pt idx="4">
                  <c:v>55.354045999999997</c:v>
                </c:pt>
                <c:pt idx="5">
                  <c:v>43.068897</c:v>
                </c:pt>
                <c:pt idx="6">
                  <c:v>32.230995</c:v>
                </c:pt>
                <c:pt idx="7">
                  <c:v>39.446800000000003</c:v>
                </c:pt>
                <c:pt idx="8">
                  <c:v>65.716285999999997</c:v>
                </c:pt>
              </c:numCache>
            </c:numRef>
          </c:xVal>
          <c:yVal>
            <c:numRef>
              <c:f>model_prediction!$S$78:$S$86</c:f>
              <c:numCache>
                <c:formatCode>General</c:formatCode>
                <c:ptCount val="9"/>
                <c:pt idx="0">
                  <c:v>65.5358571296223</c:v>
                </c:pt>
                <c:pt idx="1">
                  <c:v>45.162584472320802</c:v>
                </c:pt>
                <c:pt idx="2">
                  <c:v>46.5512689322886</c:v>
                </c:pt>
                <c:pt idx="3">
                  <c:v>48.967060863262901</c:v>
                </c:pt>
                <c:pt idx="4">
                  <c:v>41.735258757899302</c:v>
                </c:pt>
                <c:pt idx="5">
                  <c:v>55.372574577011498</c:v>
                </c:pt>
                <c:pt idx="6">
                  <c:v>41.799814431796698</c:v>
                </c:pt>
                <c:pt idx="7">
                  <c:v>44.543452677186899</c:v>
                </c:pt>
                <c:pt idx="8">
                  <c:v>56.371215783377203</c:v>
                </c:pt>
              </c:numCache>
            </c:numRef>
          </c:yVal>
          <c:smooth val="0"/>
          <c:extLst>
            <c:ext xmlns:c16="http://schemas.microsoft.com/office/drawing/2014/chart" uri="{C3380CC4-5D6E-409C-BE32-E72D297353CC}">
              <c16:uniqueId val="{00000001-9247-45BC-AF2A-F991422B9D76}"/>
            </c:ext>
          </c:extLst>
        </c:ser>
        <c:dLbls>
          <c:showLegendKey val="0"/>
          <c:showVal val="0"/>
          <c:showCatName val="0"/>
          <c:showSerName val="0"/>
          <c:showPercent val="0"/>
          <c:showBubbleSize val="0"/>
        </c:dLbls>
        <c:axId val="1497862271"/>
        <c:axId val="1497865631"/>
      </c:scatterChart>
      <c:valAx>
        <c:axId val="1497862271"/>
        <c:scaling>
          <c:orientation val="minMax"/>
          <c:min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Measured</a:t>
                </a:r>
                <a:r>
                  <a:rPr lang="en-IN" baseline="0"/>
                  <a:t> WinPercent</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7865631"/>
        <c:crosses val="autoZero"/>
        <c:crossBetween val="midCat"/>
      </c:valAx>
      <c:valAx>
        <c:axId val="1497865631"/>
        <c:scaling>
          <c:orientation val="minMax"/>
          <c:max val="90"/>
          <c:min val="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Predicted</a:t>
                </a:r>
                <a:r>
                  <a:rPr lang="en-IN" baseline="0"/>
                  <a:t> WinPercent</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7862271"/>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53714C-EB9D-4414-B15B-CB3CC2BB34E4}"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B3A5C-770E-46B9-A73E-6641DDAA884E}" type="slidenum">
              <a:rPr lang="en-IN" smtClean="0"/>
              <a:t>‹#›</a:t>
            </a:fld>
            <a:endParaRPr lang="en-IN"/>
          </a:p>
        </p:txBody>
      </p:sp>
    </p:spTree>
    <p:extLst>
      <p:ext uri="{BB962C8B-B14F-4D97-AF65-F5344CB8AC3E}">
        <p14:creationId xmlns:p14="http://schemas.microsoft.com/office/powerpoint/2010/main" val="2890218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DB3A5C-770E-46B9-A73E-6641DDAA884E}" type="slidenum">
              <a:rPr lang="en-IN" smtClean="0"/>
              <a:t>2</a:t>
            </a:fld>
            <a:endParaRPr lang="en-IN"/>
          </a:p>
        </p:txBody>
      </p:sp>
    </p:spTree>
    <p:extLst>
      <p:ext uri="{BB962C8B-B14F-4D97-AF65-F5344CB8AC3E}">
        <p14:creationId xmlns:p14="http://schemas.microsoft.com/office/powerpoint/2010/main" val="2400328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7352C-3499-885F-A004-21EE9317D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9C6EC-0D6E-314E-50E9-B3CD2728C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87F44-74D4-92F5-4A8B-5C55BEAF8A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0B41CB-85A5-D968-EDB3-F097A52ACCFA}"/>
              </a:ext>
            </a:extLst>
          </p:cNvPr>
          <p:cNvSpPr>
            <a:spLocks noGrp="1"/>
          </p:cNvSpPr>
          <p:nvPr>
            <p:ph type="sldNum" sz="quarter" idx="5"/>
          </p:nvPr>
        </p:nvSpPr>
        <p:spPr/>
        <p:txBody>
          <a:bodyPr/>
          <a:lstStyle/>
          <a:p>
            <a:fld id="{CADB3A5C-770E-46B9-A73E-6641DDAA884E}" type="slidenum">
              <a:rPr lang="en-IN" smtClean="0"/>
              <a:t>5</a:t>
            </a:fld>
            <a:endParaRPr lang="en-IN"/>
          </a:p>
        </p:txBody>
      </p:sp>
    </p:spTree>
    <p:extLst>
      <p:ext uri="{BB962C8B-B14F-4D97-AF65-F5344CB8AC3E}">
        <p14:creationId xmlns:p14="http://schemas.microsoft.com/office/powerpoint/2010/main" val="1874576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E7474-BD59-3CA8-AF7B-5309A41F1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C5039-F6A5-25F9-B961-8653433A6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D68A4-90F3-57CE-7592-E368E2949EE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877EF7-A884-259F-5E97-F8F049F8CFD5}"/>
              </a:ext>
            </a:extLst>
          </p:cNvPr>
          <p:cNvSpPr>
            <a:spLocks noGrp="1"/>
          </p:cNvSpPr>
          <p:nvPr>
            <p:ph type="sldNum" sz="quarter" idx="5"/>
          </p:nvPr>
        </p:nvSpPr>
        <p:spPr/>
        <p:txBody>
          <a:bodyPr/>
          <a:lstStyle/>
          <a:p>
            <a:fld id="{CADB3A5C-770E-46B9-A73E-6641DDAA884E}" type="slidenum">
              <a:rPr lang="en-IN" smtClean="0"/>
              <a:t>6</a:t>
            </a:fld>
            <a:endParaRPr lang="en-IN"/>
          </a:p>
        </p:txBody>
      </p:sp>
    </p:spTree>
    <p:extLst>
      <p:ext uri="{BB962C8B-B14F-4D97-AF65-F5344CB8AC3E}">
        <p14:creationId xmlns:p14="http://schemas.microsoft.com/office/powerpoint/2010/main" val="1955262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A5C31-431E-4924-BEED-9FC9C46A2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D52ED-6787-6C47-FB6B-71130A935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9F23F-ED2B-4C10-5473-EB75A2D3BD3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5877A9-3626-8DD5-B0FE-2106DFA86B88}"/>
              </a:ext>
            </a:extLst>
          </p:cNvPr>
          <p:cNvSpPr>
            <a:spLocks noGrp="1"/>
          </p:cNvSpPr>
          <p:nvPr>
            <p:ph type="sldNum" sz="quarter" idx="5"/>
          </p:nvPr>
        </p:nvSpPr>
        <p:spPr/>
        <p:txBody>
          <a:bodyPr/>
          <a:lstStyle/>
          <a:p>
            <a:fld id="{CADB3A5C-770E-46B9-A73E-6641DDAA884E}" type="slidenum">
              <a:rPr lang="en-IN" smtClean="0"/>
              <a:t>7</a:t>
            </a:fld>
            <a:endParaRPr lang="en-IN"/>
          </a:p>
        </p:txBody>
      </p:sp>
    </p:spTree>
    <p:extLst>
      <p:ext uri="{BB962C8B-B14F-4D97-AF65-F5344CB8AC3E}">
        <p14:creationId xmlns:p14="http://schemas.microsoft.com/office/powerpoint/2010/main" val="395823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82FE9-E001-3776-4152-FDFA79E3B7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2C3B19-06FC-CCF3-2A66-6108F8546A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9CE830-0D33-27A9-71BA-C6699CBC5016}"/>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5" name="Footer Placeholder 4">
            <a:extLst>
              <a:ext uri="{FF2B5EF4-FFF2-40B4-BE49-F238E27FC236}">
                <a16:creationId xmlns:a16="http://schemas.microsoft.com/office/drawing/2014/main" id="{C60A006D-A5F2-0CBB-5F95-2AE000A4AF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764016-D3B5-0DAC-C13A-EA4BB0E3F405}"/>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1328488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0007D-5E2F-242B-C976-B965FEBA5F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BD5587-EC53-94D3-A423-18CE8436B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07C7D3-22BB-3113-2F50-AEBE955794EF}"/>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5" name="Footer Placeholder 4">
            <a:extLst>
              <a:ext uri="{FF2B5EF4-FFF2-40B4-BE49-F238E27FC236}">
                <a16:creationId xmlns:a16="http://schemas.microsoft.com/office/drawing/2014/main" id="{19F4F31D-16DD-1E0B-9DDD-C8A2B49FA9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4D65E-0E84-716C-7988-C83B38EF72FC}"/>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4044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35292-7AAE-2168-8236-7298500850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C3A3BB-EB95-937C-AD67-E2B75243D8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E23339-4C9A-1E57-0DEE-C627B8D25BB5}"/>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5" name="Footer Placeholder 4">
            <a:extLst>
              <a:ext uri="{FF2B5EF4-FFF2-40B4-BE49-F238E27FC236}">
                <a16:creationId xmlns:a16="http://schemas.microsoft.com/office/drawing/2014/main" id="{6AE66AFC-71D7-516E-B249-C14990AC7F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FABAAB-CD8C-32DC-AD3C-FF78B46C8040}"/>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3568612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A5B9-3F1D-0E4F-839C-E1B1E686CB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B9B43F-9F93-281A-4E94-AB7CD93D1F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E56952-6C5A-CD31-78FB-D6437D9A12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D7A03F-4B83-AC12-918D-9950481338B5}"/>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6" name="Footer Placeholder 5">
            <a:extLst>
              <a:ext uri="{FF2B5EF4-FFF2-40B4-BE49-F238E27FC236}">
                <a16:creationId xmlns:a16="http://schemas.microsoft.com/office/drawing/2014/main" id="{B942EA09-830E-D902-9465-7BF5E32125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B0A14A-9D43-3D65-6695-96F8DE34D7F5}"/>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1799980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87DE2-4DBD-A3FA-351C-AEF96757E4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AC911D-228F-5C16-BE80-5CEC987525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211B4-BF76-39A9-9387-B9F0BB4E39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170BBA-1769-FD00-A4DB-472DC25512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7E9DA5-46FD-4074-A797-B5CFA20175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5895DC-AC29-300A-6C4A-17AF4D019C80}"/>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8" name="Footer Placeholder 7">
            <a:extLst>
              <a:ext uri="{FF2B5EF4-FFF2-40B4-BE49-F238E27FC236}">
                <a16:creationId xmlns:a16="http://schemas.microsoft.com/office/drawing/2014/main" id="{BF5F31C6-7CB6-C4B9-8B71-0D09F7DC8D8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7D6CBD-5CCB-B74F-1F23-D7BABFF6D105}"/>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539905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B4C2B-BBD6-B078-F8E6-4DB4B04EEE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2C63294-7581-7932-14B8-EAAA0C313646}"/>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4" name="Footer Placeholder 3">
            <a:extLst>
              <a:ext uri="{FF2B5EF4-FFF2-40B4-BE49-F238E27FC236}">
                <a16:creationId xmlns:a16="http://schemas.microsoft.com/office/drawing/2014/main" id="{D942403B-1008-109B-29D9-C0A61336366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03E153D-A596-7CD3-47A3-8067DC4BB27E}"/>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934302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17251-2557-736C-0BCD-FF64C3551853}"/>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3" name="Footer Placeholder 2">
            <a:extLst>
              <a:ext uri="{FF2B5EF4-FFF2-40B4-BE49-F238E27FC236}">
                <a16:creationId xmlns:a16="http://schemas.microsoft.com/office/drawing/2014/main" id="{A9A45FF0-76D7-6B9F-1D57-53BAE5D264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DF80E8-97BF-F96A-A375-65DA6FD7ABBC}"/>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1388053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B68F6-AD01-F2AD-1D2C-2443664A72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671C97-687A-B904-C4E7-A60626AE21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46F59C-3273-EFA4-18D4-C629BA9002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705B55-383F-76C3-0313-FB39ECB88104}"/>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6" name="Footer Placeholder 5">
            <a:extLst>
              <a:ext uri="{FF2B5EF4-FFF2-40B4-BE49-F238E27FC236}">
                <a16:creationId xmlns:a16="http://schemas.microsoft.com/office/drawing/2014/main" id="{1E199FEF-33D9-827C-60BF-67A67CC0C8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3C4280-6025-EDAD-D8AF-490EAEC5669A}"/>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53879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62C33-430B-F9FC-F4E4-07AD17690C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E968CAF-0F72-80AC-A3EF-A7999AE340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2242FC0-C8F9-A16D-DF29-4DE6355FF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AC10B-4402-691E-CD29-E164F91D33DB}"/>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6" name="Footer Placeholder 5">
            <a:extLst>
              <a:ext uri="{FF2B5EF4-FFF2-40B4-BE49-F238E27FC236}">
                <a16:creationId xmlns:a16="http://schemas.microsoft.com/office/drawing/2014/main" id="{E33C66F3-AA96-5ED0-B91B-2EC1BAF15D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B7CB07-4398-1CB4-51B0-8AD6ECD719DD}"/>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2880744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87E6-CAFB-9BD3-2FBF-4DF1575A5E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C72F93-8AA3-A45C-0C46-338CEE9404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0BC3C6-3FD3-6991-8911-3C82A6FBEF1F}"/>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5" name="Footer Placeholder 4">
            <a:extLst>
              <a:ext uri="{FF2B5EF4-FFF2-40B4-BE49-F238E27FC236}">
                <a16:creationId xmlns:a16="http://schemas.microsoft.com/office/drawing/2014/main" id="{1DDC848E-2497-48F1-685F-862AA9A9AC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D1E451-E923-7BAE-7DFD-E6629F002793}"/>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525092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DE3FB0-CFF6-A78D-D23F-070AAE0CF2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4F36B6-9FF2-6335-E618-41ABA259BA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E3D536-DB6E-C949-C084-F4AF02ABB336}"/>
              </a:ext>
            </a:extLst>
          </p:cNvPr>
          <p:cNvSpPr>
            <a:spLocks noGrp="1"/>
          </p:cNvSpPr>
          <p:nvPr>
            <p:ph type="dt" sz="half" idx="10"/>
          </p:nvPr>
        </p:nvSpPr>
        <p:spPr/>
        <p:txBody>
          <a:bodyPr/>
          <a:lstStyle/>
          <a:p>
            <a:fld id="{F643EDFF-7427-45C4-9B36-95BD80D4DD61}" type="datetimeFigureOut">
              <a:rPr lang="en-IN" smtClean="0"/>
              <a:t>17-02-2026</a:t>
            </a:fld>
            <a:endParaRPr lang="en-IN"/>
          </a:p>
        </p:txBody>
      </p:sp>
      <p:sp>
        <p:nvSpPr>
          <p:cNvPr id="5" name="Footer Placeholder 4">
            <a:extLst>
              <a:ext uri="{FF2B5EF4-FFF2-40B4-BE49-F238E27FC236}">
                <a16:creationId xmlns:a16="http://schemas.microsoft.com/office/drawing/2014/main" id="{48EF5059-1602-B026-A643-E9F4B618D5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6616C6-B4C7-2166-CFC7-2B592FE13B39}"/>
              </a:ext>
            </a:extLst>
          </p:cNvPr>
          <p:cNvSpPr>
            <a:spLocks noGrp="1"/>
          </p:cNvSpPr>
          <p:nvPr>
            <p:ph type="sldNum" sz="quarter" idx="12"/>
          </p:nvPr>
        </p:nvSpPr>
        <p:spPr/>
        <p:txBody>
          <a:bodyPr/>
          <a:lstStyle/>
          <a:p>
            <a:fld id="{EE20EEB5-BCEC-4520-A133-FFF1D7C9900A}" type="slidenum">
              <a:rPr lang="en-IN" smtClean="0"/>
              <a:t>‹#›</a:t>
            </a:fld>
            <a:endParaRPr lang="en-IN"/>
          </a:p>
        </p:txBody>
      </p:sp>
    </p:spTree>
    <p:extLst>
      <p:ext uri="{BB962C8B-B14F-4D97-AF65-F5344CB8AC3E}">
        <p14:creationId xmlns:p14="http://schemas.microsoft.com/office/powerpoint/2010/main" val="2657079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5A9FBC-717B-5DB1-D843-9E44978F3B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3D130A-55A8-11F5-5261-397AAF83E8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B53C3B-2370-9231-4608-227A322BB1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3EDFF-7427-45C4-9B36-95BD80D4DD61}" type="datetimeFigureOut">
              <a:rPr lang="en-IN" smtClean="0"/>
              <a:t>17-02-2026</a:t>
            </a:fld>
            <a:endParaRPr lang="en-IN"/>
          </a:p>
        </p:txBody>
      </p:sp>
      <p:sp>
        <p:nvSpPr>
          <p:cNvPr id="5" name="Footer Placeholder 4">
            <a:extLst>
              <a:ext uri="{FF2B5EF4-FFF2-40B4-BE49-F238E27FC236}">
                <a16:creationId xmlns:a16="http://schemas.microsoft.com/office/drawing/2014/main" id="{CB93DEF8-A889-2BC7-AA0E-754AA6383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EFABA3-7693-3BA4-82B5-0F1E91351D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20EEB5-BCEC-4520-A133-FFF1D7C9900A}" type="slidenum">
              <a:rPr lang="en-IN" smtClean="0"/>
              <a:t>‹#›</a:t>
            </a:fld>
            <a:endParaRPr lang="en-IN"/>
          </a:p>
        </p:txBody>
      </p:sp>
    </p:spTree>
    <p:extLst>
      <p:ext uri="{BB962C8B-B14F-4D97-AF65-F5344CB8AC3E}">
        <p14:creationId xmlns:p14="http://schemas.microsoft.com/office/powerpoint/2010/main" val="1419819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AFB16B-F173-937E-0126-5E5AE3787B0D}"/>
              </a:ext>
            </a:extLst>
          </p:cNvPr>
          <p:cNvSpPr txBox="1"/>
          <p:nvPr/>
        </p:nvSpPr>
        <p:spPr>
          <a:xfrm>
            <a:off x="767292" y="1667898"/>
            <a:ext cx="9301268" cy="1446550"/>
          </a:xfrm>
          <a:prstGeom prst="rect">
            <a:avLst/>
          </a:prstGeom>
          <a:noFill/>
        </p:spPr>
        <p:txBody>
          <a:bodyPr wrap="square" rtlCol="0">
            <a:spAutoFit/>
          </a:bodyPr>
          <a:lstStyle/>
          <a:p>
            <a:pPr defTabSz="877824">
              <a:spcAft>
                <a:spcPts val="600"/>
              </a:spcAft>
            </a:pPr>
            <a:r>
              <a:rPr lang="en-US" sz="4400" dirty="0"/>
              <a:t>Presentation to the Head of purchasing for sweets &amp; candies</a:t>
            </a:r>
            <a:endParaRPr lang="en-GB" sz="4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743628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Arrow Connector 47">
            <a:extLst>
              <a:ext uri="{FF2B5EF4-FFF2-40B4-BE49-F238E27FC236}">
                <a16:creationId xmlns:a16="http://schemas.microsoft.com/office/drawing/2014/main" id="{ECE72573-6E5E-9A1F-85D4-71BA39FE82F9}"/>
              </a:ext>
            </a:extLst>
          </p:cNvPr>
          <p:cNvCxnSpPr>
            <a:cxnSpLocks/>
          </p:cNvCxnSpPr>
          <p:nvPr/>
        </p:nvCxnSpPr>
        <p:spPr>
          <a:xfrm flipV="1">
            <a:off x="6364959" y="1505834"/>
            <a:ext cx="0" cy="4808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21A58B9-8142-CA70-A98A-015595565E88}"/>
              </a:ext>
            </a:extLst>
          </p:cNvPr>
          <p:cNvSpPr txBox="1"/>
          <p:nvPr/>
        </p:nvSpPr>
        <p:spPr>
          <a:xfrm>
            <a:off x="814386" y="3813823"/>
            <a:ext cx="5081699" cy="2823289"/>
          </a:xfrm>
          <a:prstGeom prst="rect">
            <a:avLst/>
          </a:prstGeom>
          <a:solidFill>
            <a:schemeClr val="accent6">
              <a:lumMod val="20000"/>
              <a:lumOff val="80000"/>
            </a:schemeClr>
          </a:solidFill>
        </p:spPr>
        <p:txBody>
          <a:bodyPr wrap="square">
            <a:noAutofit/>
          </a:bodyPr>
          <a:lstStyle/>
          <a:p>
            <a:pPr lvl="0" algn="ctr">
              <a:defRPr/>
            </a:pPr>
            <a:r>
              <a:rPr lang="en-US" b="1" dirty="0">
                <a:latin typeface="Roboto" panose="02000000000000000000" pitchFamily="2" charset="0"/>
                <a:ea typeface="Roboto" panose="02000000000000000000" pitchFamily="2" charset="0"/>
                <a:cs typeface="Roboto" panose="02000000000000000000" pitchFamily="2" charset="0"/>
              </a:rPr>
              <a:t>Optimal choice </a:t>
            </a:r>
            <a:r>
              <a:rPr lang="en-GB" b="1" kern="0" dirty="0">
                <a:solidFill>
                  <a:srgbClr val="222C39"/>
                </a:solidFill>
                <a:latin typeface="Roboto" panose="02000000000000000000" pitchFamily="2" charset="0"/>
                <a:ea typeface="Roboto" panose="02000000000000000000" pitchFamily="2" charset="0"/>
                <a:cs typeface="Roboto" panose="02000000000000000000" pitchFamily="2" charset="0"/>
              </a:rPr>
              <a:t>(safest bet) </a:t>
            </a:r>
            <a:r>
              <a:rPr lang="en-US" b="1" dirty="0">
                <a:latin typeface="Roboto" panose="02000000000000000000" pitchFamily="2" charset="0"/>
                <a:ea typeface="Roboto" panose="02000000000000000000" pitchFamily="2" charset="0"/>
                <a:cs typeface="Roboto" panose="02000000000000000000" pitchFamily="2" charset="0"/>
              </a:rPr>
              <a:t>- considering </a:t>
            </a:r>
            <a:r>
              <a:rPr lang="en-US" b="1" dirty="0" err="1">
                <a:latin typeface="Roboto" panose="02000000000000000000" pitchFamily="2" charset="0"/>
                <a:ea typeface="Roboto" panose="02000000000000000000" pitchFamily="2" charset="0"/>
                <a:cs typeface="Roboto" panose="02000000000000000000" pitchFamily="2" charset="0"/>
              </a:rPr>
              <a:t>flavours</a:t>
            </a:r>
            <a:r>
              <a:rPr lang="en-US" b="1" dirty="0">
                <a:latin typeface="Roboto" panose="02000000000000000000" pitchFamily="2" charset="0"/>
                <a:ea typeface="Roboto" panose="02000000000000000000" pitchFamily="2" charset="0"/>
                <a:cs typeface="Roboto" panose="02000000000000000000" pitchFamily="2" charset="0"/>
              </a:rPr>
              <a:t> interdependencies</a:t>
            </a:r>
            <a:endParaRPr kumimoji="0" lang="en-GB" sz="1800" b="1" i="0" u="none" strike="noStrike" kern="0" cap="none" spc="0" normalizeH="0" baseline="0" noProof="0" dirty="0">
              <a:ln>
                <a:noFill/>
              </a:ln>
              <a:solidFill>
                <a:srgbClr val="222C39"/>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83DC1F14-FDA5-C43F-0DD2-6F33113A3C2A}"/>
              </a:ext>
            </a:extLst>
          </p:cNvPr>
          <p:cNvSpPr txBox="1"/>
          <p:nvPr/>
        </p:nvSpPr>
        <p:spPr>
          <a:xfrm>
            <a:off x="814386" y="1310343"/>
            <a:ext cx="5081701" cy="2363896"/>
          </a:xfrm>
          <a:prstGeom prst="rect">
            <a:avLst/>
          </a:prstGeom>
          <a:solidFill>
            <a:srgbClr val="FFFFFF">
              <a:lumMod val="95000"/>
            </a:srgbClr>
          </a:solidFill>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Exploitation - Optimising composition for customer sentiment</a:t>
            </a:r>
          </a:p>
          <a:p>
            <a:pPr>
              <a:defRPr/>
            </a:pPr>
            <a:r>
              <a:rPr lang="en-US" dirty="0">
                <a:solidFill>
                  <a:srgbClr val="222C39"/>
                </a:solidFill>
                <a:latin typeface="Roboto Light"/>
              </a:rPr>
              <a:t>Sensitivity analysis shows that the following factors are the strongest individual drivers of higher customer preference</a:t>
            </a:r>
            <a:r>
              <a:rPr lang="en-GB" dirty="0">
                <a:solidFill>
                  <a:srgbClr val="222C39"/>
                </a:solidFill>
                <a:latin typeface="Roboto Light"/>
              </a:rPr>
              <a:t>–</a:t>
            </a:r>
          </a:p>
          <a:p>
            <a:pPr marL="285750" indent="-285750">
              <a:buFont typeface="Arial" panose="020B0604020202020204" pitchFamily="34" charset="0"/>
              <a:buChar char="•"/>
              <a:defRPr/>
            </a:pPr>
            <a:r>
              <a:rPr lang="en-GB" dirty="0">
                <a:solidFill>
                  <a:srgbClr val="222C39"/>
                </a:solidFill>
                <a:latin typeface="Roboto Light"/>
              </a:rPr>
              <a:t>Chocolate has strongest influence </a:t>
            </a:r>
          </a:p>
          <a:p>
            <a:pPr marL="285750" indent="-285750">
              <a:buFont typeface="Arial" panose="020B0604020202020204" pitchFamily="34" charset="0"/>
              <a:buChar char="•"/>
              <a:defRPr/>
            </a:pPr>
            <a:r>
              <a:rPr lang="en-GB" dirty="0">
                <a:solidFill>
                  <a:srgbClr val="222C39"/>
                </a:solidFill>
                <a:latin typeface="Roboto Light"/>
              </a:rPr>
              <a:t>Not hard candies are preferred</a:t>
            </a:r>
          </a:p>
          <a:p>
            <a:pPr marL="285750" indent="-285750">
              <a:buFont typeface="Arial" panose="020B0604020202020204" pitchFamily="34" charset="0"/>
              <a:buChar char="•"/>
              <a:defRPr/>
            </a:pPr>
            <a:r>
              <a:rPr lang="en-GB" dirty="0">
                <a:solidFill>
                  <a:srgbClr val="222C39"/>
                </a:solidFill>
                <a:latin typeface="Roboto Light"/>
              </a:rPr>
              <a:t>Crisped Rice Wafer and Peanut Almondy.</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222C39"/>
              </a:solidFill>
              <a:effectLst/>
              <a:uLnTx/>
              <a:uFillTx/>
              <a:latin typeface="Roboto"/>
            </a:endParaRPr>
          </a:p>
        </p:txBody>
      </p:sp>
      <p:sp>
        <p:nvSpPr>
          <p:cNvPr id="8" name="Text Placeholder 4">
            <a:extLst>
              <a:ext uri="{FF2B5EF4-FFF2-40B4-BE49-F238E27FC236}">
                <a16:creationId xmlns:a16="http://schemas.microsoft.com/office/drawing/2014/main" id="{182869F0-0A78-7EC5-2EB0-6C6073BA9713}"/>
              </a:ext>
            </a:extLst>
          </p:cNvPr>
          <p:cNvSpPr txBox="1">
            <a:spLocks/>
          </p:cNvSpPr>
          <p:nvPr/>
        </p:nvSpPr>
        <p:spPr>
          <a:xfrm>
            <a:off x="814387" y="697034"/>
            <a:ext cx="10588745" cy="541856"/>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2600" kern="1200">
                <a:solidFill>
                  <a:schemeClr val="tx2"/>
                </a:solidFill>
                <a:latin typeface="+mn-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lang="en-US" dirty="0">
                <a:solidFill>
                  <a:srgbClr val="222C39"/>
                </a:solidFill>
                <a:latin typeface="Roboto Light"/>
              </a:rPr>
              <a:t>Strategy to balance exploration and exploitation for optimal returns</a:t>
            </a:r>
            <a:endParaRPr kumimoji="0" lang="en-US" sz="2600" b="0" i="0" u="none" strike="noStrike" kern="1200" cap="none" spc="0" normalizeH="0" baseline="0" noProof="0" dirty="0">
              <a:ln>
                <a:noFill/>
              </a:ln>
              <a:solidFill>
                <a:srgbClr val="222C39"/>
              </a:solidFill>
              <a:effectLst/>
              <a:uLnTx/>
              <a:uFillTx/>
              <a:latin typeface="Roboto Light"/>
              <a:ea typeface="+mn-ea"/>
              <a:cs typeface="+mn-cs"/>
            </a:endParaRPr>
          </a:p>
        </p:txBody>
      </p:sp>
      <p:sp>
        <p:nvSpPr>
          <p:cNvPr id="9" name="Text Placeholder 5">
            <a:extLst>
              <a:ext uri="{FF2B5EF4-FFF2-40B4-BE49-F238E27FC236}">
                <a16:creationId xmlns:a16="http://schemas.microsoft.com/office/drawing/2014/main" id="{9EBECC69-370F-9DB3-F047-0091D08FB9F9}"/>
              </a:ext>
            </a:extLst>
          </p:cNvPr>
          <p:cNvSpPr txBox="1">
            <a:spLocks/>
          </p:cNvSpPr>
          <p:nvPr/>
        </p:nvSpPr>
        <p:spPr>
          <a:xfrm>
            <a:off x="803276" y="337979"/>
            <a:ext cx="10573957" cy="246221"/>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1600" b="1" i="0" kern="1200">
                <a:solidFill>
                  <a:schemeClr val="tx2"/>
                </a:solidFill>
                <a:latin typeface="+mj-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222C39"/>
                </a:solidFill>
                <a:effectLst/>
                <a:uLnTx/>
                <a:uFillTx/>
                <a:latin typeface="Roboto"/>
                <a:ea typeface="+mn-ea"/>
                <a:cs typeface="+mn-cs"/>
              </a:rPr>
              <a:t>Business Recommendation</a:t>
            </a:r>
            <a:endParaRPr kumimoji="0" lang="en-US" sz="1600" b="1" i="0" u="none" strike="noStrike" kern="1200" cap="none" spc="0" normalizeH="0" baseline="0" noProof="0" dirty="0">
              <a:ln>
                <a:noFill/>
              </a:ln>
              <a:solidFill>
                <a:srgbClr val="222C39"/>
              </a:solidFill>
              <a:effectLst/>
              <a:uLnTx/>
              <a:uFillTx/>
              <a:latin typeface="Roboto"/>
              <a:ea typeface="+mn-ea"/>
              <a:cs typeface="+mn-cs"/>
            </a:endParaRPr>
          </a:p>
        </p:txBody>
      </p:sp>
      <p:pic>
        <p:nvPicPr>
          <p:cNvPr id="11" name="Picture 10">
            <a:extLst>
              <a:ext uri="{FF2B5EF4-FFF2-40B4-BE49-F238E27FC236}">
                <a16:creationId xmlns:a16="http://schemas.microsoft.com/office/drawing/2014/main" id="{15ACA24E-2E6F-60FD-66E0-C52699ED9B03}"/>
              </a:ext>
            </a:extLst>
          </p:cNvPr>
          <p:cNvPicPr>
            <a:picLocks noChangeAspect="1"/>
          </p:cNvPicPr>
          <p:nvPr/>
        </p:nvPicPr>
        <p:blipFill>
          <a:blip r:embed="rId3"/>
          <a:srcRect t="2278" r="66684" b="50000"/>
          <a:stretch>
            <a:fillRect/>
          </a:stretch>
        </p:blipFill>
        <p:spPr>
          <a:xfrm>
            <a:off x="6456399" y="1479973"/>
            <a:ext cx="2315451" cy="2363896"/>
          </a:xfrm>
          <a:prstGeom prst="rect">
            <a:avLst/>
          </a:prstGeom>
        </p:spPr>
      </p:pic>
      <p:pic>
        <p:nvPicPr>
          <p:cNvPr id="12" name="Picture 11">
            <a:extLst>
              <a:ext uri="{FF2B5EF4-FFF2-40B4-BE49-F238E27FC236}">
                <a16:creationId xmlns:a16="http://schemas.microsoft.com/office/drawing/2014/main" id="{8FC1014A-9E40-650D-6334-F63D6B5F5E1E}"/>
              </a:ext>
            </a:extLst>
          </p:cNvPr>
          <p:cNvPicPr>
            <a:picLocks noChangeAspect="1"/>
          </p:cNvPicPr>
          <p:nvPr/>
        </p:nvPicPr>
        <p:blipFill>
          <a:blip r:embed="rId3"/>
          <a:srcRect t="52278" r="66684"/>
          <a:stretch>
            <a:fillRect/>
          </a:stretch>
        </p:blipFill>
        <p:spPr>
          <a:xfrm>
            <a:off x="8848309" y="1498134"/>
            <a:ext cx="2315451" cy="2363896"/>
          </a:xfrm>
          <a:prstGeom prst="rect">
            <a:avLst/>
          </a:prstGeom>
        </p:spPr>
      </p:pic>
      <p:pic>
        <p:nvPicPr>
          <p:cNvPr id="13" name="Picture 12">
            <a:extLst>
              <a:ext uri="{FF2B5EF4-FFF2-40B4-BE49-F238E27FC236}">
                <a16:creationId xmlns:a16="http://schemas.microsoft.com/office/drawing/2014/main" id="{6BEFC974-1CD0-D747-ACEC-912AABB1708E}"/>
              </a:ext>
            </a:extLst>
          </p:cNvPr>
          <p:cNvPicPr>
            <a:picLocks noChangeAspect="1"/>
          </p:cNvPicPr>
          <p:nvPr/>
        </p:nvPicPr>
        <p:blipFill>
          <a:blip r:embed="rId3"/>
          <a:srcRect l="33316" t="52278" r="33367"/>
          <a:stretch>
            <a:fillRect/>
          </a:stretch>
        </p:blipFill>
        <p:spPr>
          <a:xfrm>
            <a:off x="8848309" y="4112063"/>
            <a:ext cx="2315452" cy="2363896"/>
          </a:xfrm>
          <a:prstGeom prst="rect">
            <a:avLst/>
          </a:prstGeom>
        </p:spPr>
      </p:pic>
      <p:pic>
        <p:nvPicPr>
          <p:cNvPr id="14" name="Picture 13">
            <a:extLst>
              <a:ext uri="{FF2B5EF4-FFF2-40B4-BE49-F238E27FC236}">
                <a16:creationId xmlns:a16="http://schemas.microsoft.com/office/drawing/2014/main" id="{312805FB-DF0F-C38D-CD68-9AF8F4E07B2F}"/>
              </a:ext>
            </a:extLst>
          </p:cNvPr>
          <p:cNvPicPr>
            <a:picLocks noChangeAspect="1"/>
          </p:cNvPicPr>
          <p:nvPr/>
        </p:nvPicPr>
        <p:blipFill>
          <a:blip r:embed="rId3"/>
          <a:srcRect l="66684" t="3106" b="50000"/>
          <a:stretch>
            <a:fillRect/>
          </a:stretch>
        </p:blipFill>
        <p:spPr>
          <a:xfrm>
            <a:off x="6456399" y="4112063"/>
            <a:ext cx="2315452" cy="2302158"/>
          </a:xfrm>
          <a:prstGeom prst="rect">
            <a:avLst/>
          </a:prstGeom>
        </p:spPr>
      </p:pic>
      <p:sp>
        <p:nvSpPr>
          <p:cNvPr id="28" name="TextBox 27">
            <a:extLst>
              <a:ext uri="{FF2B5EF4-FFF2-40B4-BE49-F238E27FC236}">
                <a16:creationId xmlns:a16="http://schemas.microsoft.com/office/drawing/2014/main" id="{BFEE4078-8107-2E6A-4808-8F2C496F21E9}"/>
              </a:ext>
            </a:extLst>
          </p:cNvPr>
          <p:cNvSpPr txBox="1"/>
          <p:nvPr/>
        </p:nvSpPr>
        <p:spPr>
          <a:xfrm>
            <a:off x="2545807" y="6137554"/>
            <a:ext cx="1745768"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222C39"/>
                </a:solidFill>
                <a:effectLst/>
                <a:uLnTx/>
                <a:uFillTx/>
                <a:ea typeface="+mn-ea"/>
                <a:cs typeface="+mn-cs"/>
              </a:rPr>
              <a:t>Sugar (max)</a:t>
            </a:r>
          </a:p>
        </p:txBody>
      </p:sp>
      <p:sp>
        <p:nvSpPr>
          <p:cNvPr id="29" name="TextBox 28">
            <a:extLst>
              <a:ext uri="{FF2B5EF4-FFF2-40B4-BE49-F238E27FC236}">
                <a16:creationId xmlns:a16="http://schemas.microsoft.com/office/drawing/2014/main" id="{BAE6A97E-E85B-E9EB-C842-CCD2FC0ADD32}"/>
              </a:ext>
            </a:extLst>
          </p:cNvPr>
          <p:cNvSpPr txBox="1"/>
          <p:nvPr/>
        </p:nvSpPr>
        <p:spPr>
          <a:xfrm>
            <a:off x="1403964" y="4506247"/>
            <a:ext cx="1745768"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222C39"/>
                </a:solidFill>
                <a:effectLst/>
                <a:uLnTx/>
                <a:uFillTx/>
                <a:ea typeface="+mn-ea"/>
                <a:cs typeface="+mn-cs"/>
              </a:rPr>
              <a:t>Chocolate</a:t>
            </a:r>
          </a:p>
        </p:txBody>
      </p:sp>
      <p:pic>
        <p:nvPicPr>
          <p:cNvPr id="30" name="Graphic 29" descr="Checkmark">
            <a:extLst>
              <a:ext uri="{FF2B5EF4-FFF2-40B4-BE49-F238E27FC236}">
                <a16:creationId xmlns:a16="http://schemas.microsoft.com/office/drawing/2014/main" id="{BC80CDFF-AB92-4B37-CED1-1F8190A2F0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0176" y="4434794"/>
            <a:ext cx="499684" cy="499684"/>
          </a:xfrm>
          <a:prstGeom prst="rect">
            <a:avLst/>
          </a:prstGeom>
        </p:spPr>
      </p:pic>
      <p:sp>
        <p:nvSpPr>
          <p:cNvPr id="31" name="Arrow: Up 30">
            <a:extLst>
              <a:ext uri="{FF2B5EF4-FFF2-40B4-BE49-F238E27FC236}">
                <a16:creationId xmlns:a16="http://schemas.microsoft.com/office/drawing/2014/main" id="{ECED7554-BB9A-1812-DDE8-EC7B7BADA128}"/>
              </a:ext>
            </a:extLst>
          </p:cNvPr>
          <p:cNvSpPr/>
          <p:nvPr/>
        </p:nvSpPr>
        <p:spPr>
          <a:xfrm>
            <a:off x="2352019" y="5994648"/>
            <a:ext cx="288232" cy="499684"/>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E6A3F3AE-0C66-EC7D-3718-56ED296A066D}"/>
              </a:ext>
            </a:extLst>
          </p:cNvPr>
          <p:cNvSpPr txBox="1"/>
          <p:nvPr/>
        </p:nvSpPr>
        <p:spPr>
          <a:xfrm>
            <a:off x="3418691" y="4506247"/>
            <a:ext cx="1943950"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olidFill>
                  <a:srgbClr val="222C39"/>
                </a:solidFill>
              </a:rPr>
              <a:t>Peanut Almond</a:t>
            </a:r>
            <a:endParaRPr kumimoji="0" lang="en-GB" sz="1800" i="0" u="none" strike="noStrike" kern="1200" cap="none" spc="0" normalizeH="0" baseline="0" noProof="0" dirty="0">
              <a:ln>
                <a:noFill/>
              </a:ln>
              <a:solidFill>
                <a:srgbClr val="222C39"/>
              </a:solidFill>
              <a:effectLst/>
              <a:uLnTx/>
              <a:uFillTx/>
              <a:ea typeface="+mn-ea"/>
              <a:cs typeface="+mn-cs"/>
            </a:endParaRPr>
          </a:p>
        </p:txBody>
      </p:sp>
      <p:pic>
        <p:nvPicPr>
          <p:cNvPr id="33" name="Graphic 32" descr="Checkmark">
            <a:extLst>
              <a:ext uri="{FF2B5EF4-FFF2-40B4-BE49-F238E27FC236}">
                <a16:creationId xmlns:a16="http://schemas.microsoft.com/office/drawing/2014/main" id="{CDCF7634-C16C-A9A5-BF18-42DB052ACE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24903" y="4434794"/>
            <a:ext cx="499684" cy="499684"/>
          </a:xfrm>
          <a:prstGeom prst="rect">
            <a:avLst/>
          </a:prstGeom>
        </p:spPr>
      </p:pic>
      <p:sp>
        <p:nvSpPr>
          <p:cNvPr id="35" name="TextBox 34">
            <a:extLst>
              <a:ext uri="{FF2B5EF4-FFF2-40B4-BE49-F238E27FC236}">
                <a16:creationId xmlns:a16="http://schemas.microsoft.com/office/drawing/2014/main" id="{5A10668B-E548-29A1-4C44-3298A00CE275}"/>
              </a:ext>
            </a:extLst>
          </p:cNvPr>
          <p:cNvSpPr txBox="1"/>
          <p:nvPr/>
        </p:nvSpPr>
        <p:spPr>
          <a:xfrm>
            <a:off x="1403964" y="5005931"/>
            <a:ext cx="1745768"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222C39"/>
                </a:solidFill>
                <a:effectLst/>
                <a:uLnTx/>
                <a:uFillTx/>
                <a:ea typeface="+mn-ea"/>
                <a:cs typeface="+mn-cs"/>
              </a:rPr>
              <a:t>Not Hard</a:t>
            </a:r>
          </a:p>
        </p:txBody>
      </p:sp>
      <p:pic>
        <p:nvPicPr>
          <p:cNvPr id="36" name="Graphic 35" descr="Checkmark">
            <a:extLst>
              <a:ext uri="{FF2B5EF4-FFF2-40B4-BE49-F238E27FC236}">
                <a16:creationId xmlns:a16="http://schemas.microsoft.com/office/drawing/2014/main" id="{52FA076B-59B3-F472-779A-4DB37DEB866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0176" y="4934478"/>
            <a:ext cx="499684" cy="499684"/>
          </a:xfrm>
          <a:prstGeom prst="rect">
            <a:avLst/>
          </a:prstGeom>
        </p:spPr>
      </p:pic>
      <p:sp>
        <p:nvSpPr>
          <p:cNvPr id="37" name="TextBox 36">
            <a:extLst>
              <a:ext uri="{FF2B5EF4-FFF2-40B4-BE49-F238E27FC236}">
                <a16:creationId xmlns:a16="http://schemas.microsoft.com/office/drawing/2014/main" id="{1ED99D31-7494-0878-F948-4765E88A4605}"/>
              </a:ext>
            </a:extLst>
          </p:cNvPr>
          <p:cNvSpPr txBox="1"/>
          <p:nvPr/>
        </p:nvSpPr>
        <p:spPr>
          <a:xfrm>
            <a:off x="3418691" y="5005931"/>
            <a:ext cx="1943950"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olidFill>
                  <a:srgbClr val="222C39"/>
                </a:solidFill>
              </a:rPr>
              <a:t>Not Pluribus</a:t>
            </a:r>
            <a:endParaRPr kumimoji="0" lang="en-GB" sz="1800" i="0" u="none" strike="noStrike" kern="1200" cap="none" spc="0" normalizeH="0" baseline="0" noProof="0" dirty="0">
              <a:ln>
                <a:noFill/>
              </a:ln>
              <a:solidFill>
                <a:srgbClr val="222C39"/>
              </a:solidFill>
              <a:effectLst/>
              <a:uLnTx/>
              <a:uFillTx/>
              <a:ea typeface="+mn-ea"/>
              <a:cs typeface="+mn-cs"/>
            </a:endParaRPr>
          </a:p>
        </p:txBody>
      </p:sp>
      <p:pic>
        <p:nvPicPr>
          <p:cNvPr id="38" name="Graphic 37" descr="Checkmark">
            <a:extLst>
              <a:ext uri="{FF2B5EF4-FFF2-40B4-BE49-F238E27FC236}">
                <a16:creationId xmlns:a16="http://schemas.microsoft.com/office/drawing/2014/main" id="{FBAD5D06-D804-1362-AEE3-48BBE4E5E1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24903" y="4934478"/>
            <a:ext cx="499684" cy="499684"/>
          </a:xfrm>
          <a:prstGeom prst="rect">
            <a:avLst/>
          </a:prstGeom>
        </p:spPr>
      </p:pic>
      <p:sp>
        <p:nvSpPr>
          <p:cNvPr id="39" name="TextBox 38">
            <a:extLst>
              <a:ext uri="{FF2B5EF4-FFF2-40B4-BE49-F238E27FC236}">
                <a16:creationId xmlns:a16="http://schemas.microsoft.com/office/drawing/2014/main" id="{00476BB0-06F4-6DCD-D6CB-C8413DFBBBF6}"/>
              </a:ext>
            </a:extLst>
          </p:cNvPr>
          <p:cNvSpPr txBox="1"/>
          <p:nvPr/>
        </p:nvSpPr>
        <p:spPr>
          <a:xfrm>
            <a:off x="1403964" y="5545764"/>
            <a:ext cx="1745768"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222C39"/>
                </a:solidFill>
                <a:effectLst/>
                <a:uLnTx/>
                <a:uFillTx/>
                <a:ea typeface="+mn-ea"/>
                <a:cs typeface="+mn-cs"/>
              </a:rPr>
              <a:t>Not Fruity</a:t>
            </a:r>
          </a:p>
        </p:txBody>
      </p:sp>
      <p:pic>
        <p:nvPicPr>
          <p:cNvPr id="40" name="Graphic 39" descr="Checkmark">
            <a:extLst>
              <a:ext uri="{FF2B5EF4-FFF2-40B4-BE49-F238E27FC236}">
                <a16:creationId xmlns:a16="http://schemas.microsoft.com/office/drawing/2014/main" id="{25DED98C-19D0-9641-CC89-2693725BAF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0176" y="5474311"/>
            <a:ext cx="499684" cy="499684"/>
          </a:xfrm>
          <a:prstGeom prst="rect">
            <a:avLst/>
          </a:prstGeom>
        </p:spPr>
      </p:pic>
      <p:sp>
        <p:nvSpPr>
          <p:cNvPr id="41" name="TextBox 40">
            <a:extLst>
              <a:ext uri="{FF2B5EF4-FFF2-40B4-BE49-F238E27FC236}">
                <a16:creationId xmlns:a16="http://schemas.microsoft.com/office/drawing/2014/main" id="{7C704BB0-0689-54E8-69F7-AAE73B836D46}"/>
              </a:ext>
            </a:extLst>
          </p:cNvPr>
          <p:cNvSpPr txBox="1"/>
          <p:nvPr/>
        </p:nvSpPr>
        <p:spPr>
          <a:xfrm>
            <a:off x="3418691" y="5545764"/>
            <a:ext cx="1943950"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olidFill>
                  <a:srgbClr val="222C39"/>
                </a:solidFill>
              </a:rPr>
              <a:t>Not Crisped Rice</a:t>
            </a:r>
            <a:endParaRPr kumimoji="0" lang="en-GB" sz="1800" i="0" u="none" strike="noStrike" kern="1200" cap="none" spc="0" normalizeH="0" baseline="0" noProof="0" dirty="0">
              <a:ln>
                <a:noFill/>
              </a:ln>
              <a:solidFill>
                <a:srgbClr val="222C39"/>
              </a:solidFill>
              <a:effectLst/>
              <a:uLnTx/>
              <a:uFillTx/>
              <a:ea typeface="+mn-ea"/>
              <a:cs typeface="+mn-cs"/>
            </a:endParaRPr>
          </a:p>
        </p:txBody>
      </p:sp>
      <p:pic>
        <p:nvPicPr>
          <p:cNvPr id="42" name="Graphic 41" descr="Checkmark">
            <a:extLst>
              <a:ext uri="{FF2B5EF4-FFF2-40B4-BE49-F238E27FC236}">
                <a16:creationId xmlns:a16="http://schemas.microsoft.com/office/drawing/2014/main" id="{CCEE9E90-812C-8ED5-3F11-423EEC1670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24903" y="5474311"/>
            <a:ext cx="499684" cy="499684"/>
          </a:xfrm>
          <a:prstGeom prst="rect">
            <a:avLst/>
          </a:prstGeom>
        </p:spPr>
      </p:pic>
      <p:sp>
        <p:nvSpPr>
          <p:cNvPr id="43" name="TextBox 42">
            <a:extLst>
              <a:ext uri="{FF2B5EF4-FFF2-40B4-BE49-F238E27FC236}">
                <a16:creationId xmlns:a16="http://schemas.microsoft.com/office/drawing/2014/main" id="{71B9FFF4-4CBD-C42D-1AF4-B10C7ECEA494}"/>
              </a:ext>
            </a:extLst>
          </p:cNvPr>
          <p:cNvSpPr txBox="1"/>
          <p:nvPr/>
        </p:nvSpPr>
        <p:spPr>
          <a:xfrm>
            <a:off x="7131269" y="1252604"/>
            <a:ext cx="1869440" cy="369332"/>
          </a:xfrm>
          <a:prstGeom prst="rect">
            <a:avLst/>
          </a:prstGeom>
          <a:noFill/>
        </p:spPr>
        <p:txBody>
          <a:bodyPr wrap="square" rtlCol="0">
            <a:spAutoFit/>
          </a:bodyPr>
          <a:lstStyle/>
          <a:p>
            <a:r>
              <a:rPr lang="en-US" dirty="0"/>
              <a:t>Chocolate</a:t>
            </a:r>
            <a:endParaRPr lang="en-IN" dirty="0"/>
          </a:p>
        </p:txBody>
      </p:sp>
      <p:sp>
        <p:nvSpPr>
          <p:cNvPr id="44" name="TextBox 43">
            <a:extLst>
              <a:ext uri="{FF2B5EF4-FFF2-40B4-BE49-F238E27FC236}">
                <a16:creationId xmlns:a16="http://schemas.microsoft.com/office/drawing/2014/main" id="{6ECB5DE0-FDCA-99A3-9B11-F22DFAA417BB}"/>
              </a:ext>
            </a:extLst>
          </p:cNvPr>
          <p:cNvSpPr txBox="1"/>
          <p:nvPr/>
        </p:nvSpPr>
        <p:spPr>
          <a:xfrm>
            <a:off x="9168608" y="1257051"/>
            <a:ext cx="2315451" cy="369332"/>
          </a:xfrm>
          <a:prstGeom prst="rect">
            <a:avLst/>
          </a:prstGeom>
          <a:noFill/>
        </p:spPr>
        <p:txBody>
          <a:bodyPr wrap="square" rtlCol="0">
            <a:spAutoFit/>
          </a:bodyPr>
          <a:lstStyle/>
          <a:p>
            <a:r>
              <a:rPr lang="en-US" dirty="0"/>
              <a:t>Crisped Rice Wafer</a:t>
            </a:r>
            <a:endParaRPr lang="en-IN" dirty="0"/>
          </a:p>
        </p:txBody>
      </p:sp>
      <p:sp>
        <p:nvSpPr>
          <p:cNvPr id="45" name="TextBox 44">
            <a:extLst>
              <a:ext uri="{FF2B5EF4-FFF2-40B4-BE49-F238E27FC236}">
                <a16:creationId xmlns:a16="http://schemas.microsoft.com/office/drawing/2014/main" id="{1A212824-C485-1E9C-27A7-CA6A23168843}"/>
              </a:ext>
            </a:extLst>
          </p:cNvPr>
          <p:cNvSpPr txBox="1"/>
          <p:nvPr/>
        </p:nvSpPr>
        <p:spPr>
          <a:xfrm>
            <a:off x="9799448" y="3884262"/>
            <a:ext cx="720146" cy="369332"/>
          </a:xfrm>
          <a:prstGeom prst="rect">
            <a:avLst/>
          </a:prstGeom>
          <a:noFill/>
        </p:spPr>
        <p:txBody>
          <a:bodyPr wrap="square" rtlCol="0">
            <a:spAutoFit/>
          </a:bodyPr>
          <a:lstStyle/>
          <a:p>
            <a:r>
              <a:rPr lang="en-US" dirty="0"/>
              <a:t>Hard</a:t>
            </a:r>
            <a:endParaRPr lang="en-IN" dirty="0"/>
          </a:p>
        </p:txBody>
      </p:sp>
      <p:sp>
        <p:nvSpPr>
          <p:cNvPr id="46" name="TextBox 45">
            <a:extLst>
              <a:ext uri="{FF2B5EF4-FFF2-40B4-BE49-F238E27FC236}">
                <a16:creationId xmlns:a16="http://schemas.microsoft.com/office/drawing/2014/main" id="{8C6D0144-153C-E293-D640-F5FECF33C84A}"/>
              </a:ext>
            </a:extLst>
          </p:cNvPr>
          <p:cNvSpPr txBox="1"/>
          <p:nvPr/>
        </p:nvSpPr>
        <p:spPr>
          <a:xfrm>
            <a:off x="6894784" y="3884262"/>
            <a:ext cx="2315451" cy="369332"/>
          </a:xfrm>
          <a:prstGeom prst="rect">
            <a:avLst/>
          </a:prstGeom>
          <a:noFill/>
        </p:spPr>
        <p:txBody>
          <a:bodyPr wrap="square" rtlCol="0">
            <a:spAutoFit/>
          </a:bodyPr>
          <a:lstStyle/>
          <a:p>
            <a:r>
              <a:rPr lang="en-US" dirty="0"/>
              <a:t>Peanut Almondy</a:t>
            </a:r>
            <a:endParaRPr lang="en-IN" dirty="0"/>
          </a:p>
        </p:txBody>
      </p:sp>
      <p:sp>
        <p:nvSpPr>
          <p:cNvPr id="50" name="TextBox 49">
            <a:extLst>
              <a:ext uri="{FF2B5EF4-FFF2-40B4-BE49-F238E27FC236}">
                <a16:creationId xmlns:a16="http://schemas.microsoft.com/office/drawing/2014/main" id="{CB7C857B-087F-C05D-EC5A-FDF1492D54E6}"/>
              </a:ext>
            </a:extLst>
          </p:cNvPr>
          <p:cNvSpPr txBox="1"/>
          <p:nvPr/>
        </p:nvSpPr>
        <p:spPr>
          <a:xfrm rot="16200000">
            <a:off x="5081476" y="3730539"/>
            <a:ext cx="2181451" cy="369332"/>
          </a:xfrm>
          <a:prstGeom prst="rect">
            <a:avLst/>
          </a:prstGeom>
          <a:noFill/>
        </p:spPr>
        <p:txBody>
          <a:bodyPr wrap="square" rtlCol="0">
            <a:spAutoFit/>
          </a:bodyPr>
          <a:lstStyle/>
          <a:p>
            <a:r>
              <a:rPr lang="en-US" dirty="0"/>
              <a:t>Customer Preference</a:t>
            </a:r>
            <a:endParaRPr lang="en-IN" dirty="0"/>
          </a:p>
        </p:txBody>
      </p:sp>
    </p:spTree>
    <p:extLst>
      <p:ext uri="{BB962C8B-B14F-4D97-AF65-F5344CB8AC3E}">
        <p14:creationId xmlns:p14="http://schemas.microsoft.com/office/powerpoint/2010/main" val="2853727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FDCF9-D95D-9E88-7E52-A078663AC54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E3C647-13CA-B642-4103-0FC936772D14}"/>
              </a:ext>
            </a:extLst>
          </p:cNvPr>
          <p:cNvSpPr txBox="1"/>
          <p:nvPr/>
        </p:nvSpPr>
        <p:spPr>
          <a:xfrm>
            <a:off x="814387" y="1238890"/>
            <a:ext cx="5012656" cy="588169"/>
          </a:xfrm>
          <a:prstGeom prst="rect">
            <a:avLst/>
          </a:prstGeom>
          <a:solidFill>
            <a:srgbClr val="FFFFFF">
              <a:lumMod val="95000"/>
            </a:srgbClr>
          </a:solidFill>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Exploration – Novel compositions for market differentiation</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222C39"/>
              </a:solidFill>
              <a:effectLst/>
              <a:uLnTx/>
              <a:uFillTx/>
              <a:latin typeface="Roboto"/>
            </a:endParaRPr>
          </a:p>
        </p:txBody>
      </p:sp>
      <p:sp>
        <p:nvSpPr>
          <p:cNvPr id="8" name="Text Placeholder 4">
            <a:extLst>
              <a:ext uri="{FF2B5EF4-FFF2-40B4-BE49-F238E27FC236}">
                <a16:creationId xmlns:a16="http://schemas.microsoft.com/office/drawing/2014/main" id="{C171FD01-EA58-C5D3-9140-1DA7A3BBAE39}"/>
              </a:ext>
            </a:extLst>
          </p:cNvPr>
          <p:cNvSpPr txBox="1">
            <a:spLocks/>
          </p:cNvSpPr>
          <p:nvPr/>
        </p:nvSpPr>
        <p:spPr>
          <a:xfrm>
            <a:off x="814387" y="697034"/>
            <a:ext cx="10588745" cy="541856"/>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2600" kern="1200">
                <a:solidFill>
                  <a:schemeClr val="tx2"/>
                </a:solidFill>
                <a:latin typeface="+mn-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22C39"/>
                </a:solidFill>
                <a:effectLst/>
                <a:uLnTx/>
                <a:uFillTx/>
                <a:latin typeface="Roboto Light"/>
                <a:ea typeface="+mn-ea"/>
                <a:cs typeface="+mn-cs"/>
              </a:rPr>
              <a:t>Balancing Exploration and Exploitation</a:t>
            </a:r>
          </a:p>
        </p:txBody>
      </p:sp>
      <p:sp>
        <p:nvSpPr>
          <p:cNvPr id="9" name="Text Placeholder 5">
            <a:extLst>
              <a:ext uri="{FF2B5EF4-FFF2-40B4-BE49-F238E27FC236}">
                <a16:creationId xmlns:a16="http://schemas.microsoft.com/office/drawing/2014/main" id="{39693197-79E6-E41B-C4BE-6F2FB718EF4D}"/>
              </a:ext>
            </a:extLst>
          </p:cNvPr>
          <p:cNvSpPr txBox="1">
            <a:spLocks/>
          </p:cNvSpPr>
          <p:nvPr/>
        </p:nvSpPr>
        <p:spPr>
          <a:xfrm>
            <a:off x="803276" y="337979"/>
            <a:ext cx="10573957" cy="246221"/>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1600" b="1" i="0" kern="1200">
                <a:solidFill>
                  <a:schemeClr val="tx2"/>
                </a:solidFill>
                <a:latin typeface="+mj-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222C39"/>
                </a:solidFill>
                <a:effectLst/>
                <a:uLnTx/>
                <a:uFillTx/>
                <a:latin typeface="Roboto"/>
                <a:ea typeface="+mn-ea"/>
                <a:cs typeface="+mn-cs"/>
              </a:rPr>
              <a:t>Business Recommendation</a:t>
            </a:r>
            <a:endParaRPr kumimoji="0" lang="en-US" sz="1600" b="1" i="0" u="none" strike="noStrike" kern="1200" cap="none" spc="0" normalizeH="0" baseline="0" noProof="0" dirty="0">
              <a:ln>
                <a:noFill/>
              </a:ln>
              <a:solidFill>
                <a:srgbClr val="222C39"/>
              </a:solidFill>
              <a:effectLst/>
              <a:uLnTx/>
              <a:uFillTx/>
              <a:latin typeface="Roboto"/>
              <a:ea typeface="+mn-ea"/>
              <a:cs typeface="+mn-cs"/>
            </a:endParaRPr>
          </a:p>
        </p:txBody>
      </p:sp>
      <p:sp>
        <p:nvSpPr>
          <p:cNvPr id="10" name="TextBox 9">
            <a:extLst>
              <a:ext uri="{FF2B5EF4-FFF2-40B4-BE49-F238E27FC236}">
                <a16:creationId xmlns:a16="http://schemas.microsoft.com/office/drawing/2014/main" id="{ABD3C7D0-D1AF-A5C9-48CC-385EE4C02670}"/>
              </a:ext>
            </a:extLst>
          </p:cNvPr>
          <p:cNvSpPr txBox="1"/>
          <p:nvPr/>
        </p:nvSpPr>
        <p:spPr>
          <a:xfrm>
            <a:off x="803276" y="1969965"/>
            <a:ext cx="5012655" cy="1754326"/>
          </a:xfrm>
          <a:prstGeom prst="rect">
            <a:avLst/>
          </a:prstGeom>
          <a:noFill/>
        </p:spPr>
        <p:txBody>
          <a:bodyPr wrap="square">
            <a:spAutoFit/>
          </a:bodyPr>
          <a:lstStyle/>
          <a:p>
            <a:pPr>
              <a:defRPr/>
            </a:pPr>
            <a:r>
              <a:rPr lang="en-US" dirty="0">
                <a:latin typeface="Roboto Light" panose="02000000000000000000" pitchFamily="2" charset="0"/>
                <a:ea typeface="Roboto Light" panose="02000000000000000000" pitchFamily="2" charset="0"/>
                <a:cs typeface="Roboto Light" panose="02000000000000000000" pitchFamily="2" charset="0"/>
              </a:rPr>
              <a:t>Some flavor combinations haven’t been tested in the market yet, but they look promising based on the strength of their individual effects. These remain higher‑risk options, as the limited data makes their combined performance harder to predict with confidence.</a:t>
            </a:r>
            <a:endParaRPr lang="en-GB" dirty="0">
              <a:solidFill>
                <a:srgbClr val="222C39"/>
              </a:solidFill>
              <a:latin typeface="Roboto Light" panose="02000000000000000000" pitchFamily="2" charset="0"/>
              <a:ea typeface="Roboto Light" panose="02000000000000000000" pitchFamily="2" charset="0"/>
              <a:cs typeface="Roboto Light" panose="02000000000000000000" pitchFamily="2" charset="0"/>
            </a:endParaRPr>
          </a:p>
        </p:txBody>
      </p:sp>
      <p:sp>
        <p:nvSpPr>
          <p:cNvPr id="22" name="TextBox 21">
            <a:extLst>
              <a:ext uri="{FF2B5EF4-FFF2-40B4-BE49-F238E27FC236}">
                <a16:creationId xmlns:a16="http://schemas.microsoft.com/office/drawing/2014/main" id="{8765F776-5D44-6E77-4F8D-B122B2AAC6F6}"/>
              </a:ext>
            </a:extLst>
          </p:cNvPr>
          <p:cNvSpPr txBox="1"/>
          <p:nvPr/>
        </p:nvSpPr>
        <p:spPr>
          <a:xfrm>
            <a:off x="6128912" y="1238889"/>
            <a:ext cx="5148687" cy="588169"/>
          </a:xfrm>
          <a:prstGeom prst="rect">
            <a:avLst/>
          </a:prstGeom>
          <a:solidFill>
            <a:schemeClr val="accent6">
              <a:lumMod val="20000"/>
              <a:lumOff val="80000"/>
            </a:schemeClr>
          </a:solidFill>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New Fruity combinations to try</a:t>
            </a:r>
          </a:p>
        </p:txBody>
      </p:sp>
      <p:pic>
        <p:nvPicPr>
          <p:cNvPr id="3" name="Picture 2">
            <a:extLst>
              <a:ext uri="{FF2B5EF4-FFF2-40B4-BE49-F238E27FC236}">
                <a16:creationId xmlns:a16="http://schemas.microsoft.com/office/drawing/2014/main" id="{FB7B948F-EB5A-A6DE-9246-6220E1EEE018}"/>
              </a:ext>
            </a:extLst>
          </p:cNvPr>
          <p:cNvPicPr>
            <a:picLocks noChangeAspect="1"/>
          </p:cNvPicPr>
          <p:nvPr/>
        </p:nvPicPr>
        <p:blipFill>
          <a:blip r:embed="rId2"/>
          <a:srcRect l="33251" r="33211" b="50000"/>
          <a:stretch>
            <a:fillRect/>
          </a:stretch>
        </p:blipFill>
        <p:spPr>
          <a:xfrm>
            <a:off x="3663079" y="4402651"/>
            <a:ext cx="1975721" cy="2099398"/>
          </a:xfrm>
          <a:prstGeom prst="rect">
            <a:avLst/>
          </a:prstGeom>
        </p:spPr>
      </p:pic>
      <p:sp>
        <p:nvSpPr>
          <p:cNvPr id="24" name="TextBox 23">
            <a:extLst>
              <a:ext uri="{FF2B5EF4-FFF2-40B4-BE49-F238E27FC236}">
                <a16:creationId xmlns:a16="http://schemas.microsoft.com/office/drawing/2014/main" id="{DDC2AB53-37E1-292B-02C9-E8EACA0EAB32}"/>
              </a:ext>
            </a:extLst>
          </p:cNvPr>
          <p:cNvSpPr txBox="1"/>
          <p:nvPr/>
        </p:nvSpPr>
        <p:spPr>
          <a:xfrm>
            <a:off x="814387" y="4586241"/>
            <a:ext cx="2547727" cy="1477328"/>
          </a:xfrm>
          <a:prstGeom prst="rect">
            <a:avLst/>
          </a:prstGeom>
          <a:noFill/>
        </p:spPr>
        <p:txBody>
          <a:bodyPr wrap="square">
            <a:spAutoFit/>
          </a:bodyPr>
          <a:lstStyle/>
          <a:p>
            <a:pPr>
              <a:defRPr/>
            </a:pPr>
            <a:r>
              <a:rPr lang="en-US" dirty="0">
                <a:latin typeface="Roboto Light" panose="02000000000000000000" pitchFamily="2" charset="0"/>
                <a:ea typeface="Roboto Light" panose="02000000000000000000" pitchFamily="2" charset="0"/>
                <a:cs typeface="Roboto Light" panose="02000000000000000000" pitchFamily="2" charset="0"/>
              </a:rPr>
              <a:t>Fruity </a:t>
            </a:r>
            <a:r>
              <a:rPr lang="en-US" dirty="0" err="1">
                <a:latin typeface="Roboto Light" panose="02000000000000000000" pitchFamily="2" charset="0"/>
                <a:ea typeface="Roboto Light" panose="02000000000000000000" pitchFamily="2" charset="0"/>
                <a:cs typeface="Roboto Light" panose="02000000000000000000" pitchFamily="2" charset="0"/>
              </a:rPr>
              <a:t>flavours</a:t>
            </a:r>
            <a:r>
              <a:rPr lang="en-US" dirty="0">
                <a:latin typeface="Roboto Light" panose="02000000000000000000" pitchFamily="2" charset="0"/>
                <a:ea typeface="Roboto Light" panose="02000000000000000000" pitchFamily="2" charset="0"/>
                <a:cs typeface="Roboto Light" panose="02000000000000000000" pitchFamily="2" charset="0"/>
              </a:rPr>
              <a:t> perform well on their own, but they’ve never been paired with some of the other popular </a:t>
            </a:r>
            <a:r>
              <a:rPr lang="en-US" dirty="0" err="1">
                <a:latin typeface="Roboto Light" panose="02000000000000000000" pitchFamily="2" charset="0"/>
                <a:ea typeface="Roboto Light" panose="02000000000000000000" pitchFamily="2" charset="0"/>
                <a:cs typeface="Roboto Light" panose="02000000000000000000" pitchFamily="2" charset="0"/>
              </a:rPr>
              <a:t>flavours</a:t>
            </a:r>
            <a:endParaRPr lang="en-GB" dirty="0">
              <a:solidFill>
                <a:srgbClr val="222C39"/>
              </a:solidFill>
              <a:latin typeface="Roboto Light" panose="02000000000000000000" pitchFamily="2" charset="0"/>
              <a:ea typeface="Roboto Light" panose="02000000000000000000" pitchFamily="2" charset="0"/>
              <a:cs typeface="Roboto Light" panose="02000000000000000000" pitchFamily="2" charset="0"/>
            </a:endParaRPr>
          </a:p>
        </p:txBody>
      </p:sp>
      <p:sp>
        <p:nvSpPr>
          <p:cNvPr id="25" name="TextBox 24">
            <a:extLst>
              <a:ext uri="{FF2B5EF4-FFF2-40B4-BE49-F238E27FC236}">
                <a16:creationId xmlns:a16="http://schemas.microsoft.com/office/drawing/2014/main" id="{6B3B94E0-EB7C-A6A1-5D37-5BABF8760B7A}"/>
              </a:ext>
            </a:extLst>
          </p:cNvPr>
          <p:cNvSpPr txBox="1"/>
          <p:nvPr/>
        </p:nvSpPr>
        <p:spPr>
          <a:xfrm>
            <a:off x="803276" y="3814482"/>
            <a:ext cx="5023767" cy="588169"/>
          </a:xfrm>
          <a:prstGeom prst="rect">
            <a:avLst/>
          </a:prstGeom>
          <a:solidFill>
            <a:schemeClr val="accent1">
              <a:lumMod val="20000"/>
              <a:lumOff val="80000"/>
            </a:schemeClr>
          </a:solidFill>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Fruity is an unexplored flavour</a:t>
            </a:r>
          </a:p>
        </p:txBody>
      </p:sp>
      <p:sp>
        <p:nvSpPr>
          <p:cNvPr id="26" name="TextBox 25">
            <a:extLst>
              <a:ext uri="{FF2B5EF4-FFF2-40B4-BE49-F238E27FC236}">
                <a16:creationId xmlns:a16="http://schemas.microsoft.com/office/drawing/2014/main" id="{D9D2E1EB-F830-9F73-C116-133CC93B74B4}"/>
              </a:ext>
            </a:extLst>
          </p:cNvPr>
          <p:cNvSpPr txBox="1"/>
          <p:nvPr/>
        </p:nvSpPr>
        <p:spPr>
          <a:xfrm>
            <a:off x="6624322" y="5656580"/>
            <a:ext cx="1745768"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222C39"/>
                </a:solidFill>
                <a:effectLst/>
                <a:uLnTx/>
                <a:uFillTx/>
                <a:ea typeface="+mn-ea"/>
                <a:cs typeface="+mn-cs"/>
              </a:rPr>
              <a:t>Fruity</a:t>
            </a:r>
          </a:p>
        </p:txBody>
      </p:sp>
      <p:sp>
        <p:nvSpPr>
          <p:cNvPr id="27" name="TextBox 26">
            <a:extLst>
              <a:ext uri="{FF2B5EF4-FFF2-40B4-BE49-F238E27FC236}">
                <a16:creationId xmlns:a16="http://schemas.microsoft.com/office/drawing/2014/main" id="{D53C1B52-1175-3E44-032E-1ABD780DD401}"/>
              </a:ext>
            </a:extLst>
          </p:cNvPr>
          <p:cNvSpPr txBox="1"/>
          <p:nvPr/>
        </p:nvSpPr>
        <p:spPr>
          <a:xfrm>
            <a:off x="9203158" y="5656580"/>
            <a:ext cx="1943950"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olidFill>
                  <a:srgbClr val="222C39"/>
                </a:solidFill>
              </a:rPr>
              <a:t>Peanut Almond</a:t>
            </a:r>
            <a:endParaRPr kumimoji="0" lang="en-GB" sz="1800" i="0" u="none" strike="noStrike" kern="1200" cap="none" spc="0" normalizeH="0" baseline="0" noProof="0" dirty="0">
              <a:ln>
                <a:noFill/>
              </a:ln>
              <a:solidFill>
                <a:srgbClr val="222C39"/>
              </a:solidFill>
              <a:effectLst/>
              <a:uLnTx/>
              <a:uFillTx/>
              <a:ea typeface="+mn-ea"/>
              <a:cs typeface="+mn-cs"/>
            </a:endParaRPr>
          </a:p>
        </p:txBody>
      </p:sp>
      <p:pic>
        <p:nvPicPr>
          <p:cNvPr id="29" name="Graphic 28" descr="Add">
            <a:extLst>
              <a:ext uri="{FF2B5EF4-FFF2-40B4-BE49-F238E27FC236}">
                <a16:creationId xmlns:a16="http://schemas.microsoft.com/office/drawing/2014/main" id="{A5DF0CE2-9308-5E56-F628-F774B10A3B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8024" y="5606369"/>
            <a:ext cx="457200" cy="457200"/>
          </a:xfrm>
          <a:prstGeom prst="rect">
            <a:avLst/>
          </a:prstGeom>
        </p:spPr>
      </p:pic>
      <p:sp>
        <p:nvSpPr>
          <p:cNvPr id="39" name="TextBox 38">
            <a:extLst>
              <a:ext uri="{FF2B5EF4-FFF2-40B4-BE49-F238E27FC236}">
                <a16:creationId xmlns:a16="http://schemas.microsoft.com/office/drawing/2014/main" id="{41FCF946-1B7C-7BFE-A85C-AAFE13888104}"/>
              </a:ext>
            </a:extLst>
          </p:cNvPr>
          <p:cNvSpPr txBox="1"/>
          <p:nvPr/>
        </p:nvSpPr>
        <p:spPr>
          <a:xfrm>
            <a:off x="6624322" y="4471956"/>
            <a:ext cx="1745768"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222C39"/>
                </a:solidFill>
                <a:effectLst/>
                <a:uLnTx/>
                <a:uFillTx/>
                <a:ea typeface="+mn-ea"/>
                <a:cs typeface="+mn-cs"/>
              </a:rPr>
              <a:t>Fruity</a:t>
            </a:r>
          </a:p>
        </p:txBody>
      </p:sp>
      <p:sp>
        <p:nvSpPr>
          <p:cNvPr id="40" name="TextBox 39">
            <a:extLst>
              <a:ext uri="{FF2B5EF4-FFF2-40B4-BE49-F238E27FC236}">
                <a16:creationId xmlns:a16="http://schemas.microsoft.com/office/drawing/2014/main" id="{7B8612B7-F079-71A2-55D9-0A0836244AFD}"/>
              </a:ext>
            </a:extLst>
          </p:cNvPr>
          <p:cNvSpPr txBox="1"/>
          <p:nvPr/>
        </p:nvSpPr>
        <p:spPr>
          <a:xfrm>
            <a:off x="9203158" y="4471956"/>
            <a:ext cx="1943950"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olidFill>
                  <a:srgbClr val="222C39"/>
                </a:solidFill>
              </a:rPr>
              <a:t>Chocolate</a:t>
            </a:r>
            <a:endParaRPr kumimoji="0" lang="en-GB" sz="1800" i="0" u="none" strike="noStrike" kern="1200" cap="none" spc="0" normalizeH="0" baseline="0" noProof="0" dirty="0">
              <a:ln>
                <a:noFill/>
              </a:ln>
              <a:solidFill>
                <a:srgbClr val="222C39"/>
              </a:solidFill>
              <a:effectLst/>
              <a:uLnTx/>
              <a:uFillTx/>
              <a:ea typeface="+mn-ea"/>
              <a:cs typeface="+mn-cs"/>
            </a:endParaRPr>
          </a:p>
        </p:txBody>
      </p:sp>
      <p:pic>
        <p:nvPicPr>
          <p:cNvPr id="41" name="Graphic 40" descr="Add">
            <a:extLst>
              <a:ext uri="{FF2B5EF4-FFF2-40B4-BE49-F238E27FC236}">
                <a16:creationId xmlns:a16="http://schemas.microsoft.com/office/drawing/2014/main" id="{E03D4496-88A2-ABB4-EBA9-83D2610A01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8024" y="4421745"/>
            <a:ext cx="457200" cy="457200"/>
          </a:xfrm>
          <a:prstGeom prst="rect">
            <a:avLst/>
          </a:prstGeom>
        </p:spPr>
      </p:pic>
      <p:sp>
        <p:nvSpPr>
          <p:cNvPr id="48" name="TextBox 47">
            <a:extLst>
              <a:ext uri="{FF2B5EF4-FFF2-40B4-BE49-F238E27FC236}">
                <a16:creationId xmlns:a16="http://schemas.microsoft.com/office/drawing/2014/main" id="{E39844EE-934A-8B10-5366-0718BC3B67A9}"/>
              </a:ext>
            </a:extLst>
          </p:cNvPr>
          <p:cNvSpPr txBox="1"/>
          <p:nvPr/>
        </p:nvSpPr>
        <p:spPr>
          <a:xfrm>
            <a:off x="6624322" y="5010662"/>
            <a:ext cx="1745768"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222C39"/>
                </a:solidFill>
                <a:effectLst/>
                <a:uLnTx/>
                <a:uFillTx/>
                <a:ea typeface="+mn-ea"/>
                <a:cs typeface="+mn-cs"/>
              </a:rPr>
              <a:t>Fruity</a:t>
            </a:r>
          </a:p>
        </p:txBody>
      </p:sp>
      <p:sp>
        <p:nvSpPr>
          <p:cNvPr id="49" name="TextBox 48">
            <a:extLst>
              <a:ext uri="{FF2B5EF4-FFF2-40B4-BE49-F238E27FC236}">
                <a16:creationId xmlns:a16="http://schemas.microsoft.com/office/drawing/2014/main" id="{49A6A64B-EDBF-BA4E-AE94-1EA7412C366C}"/>
              </a:ext>
            </a:extLst>
          </p:cNvPr>
          <p:cNvSpPr txBox="1"/>
          <p:nvPr/>
        </p:nvSpPr>
        <p:spPr>
          <a:xfrm>
            <a:off x="9203158" y="5010662"/>
            <a:ext cx="1943950" cy="356778"/>
          </a:xfrm>
          <a:prstGeom prst="rect">
            <a:avLst/>
          </a:prstGeom>
          <a:solidFill>
            <a:schemeClr val="tx2">
              <a:lumMod val="20000"/>
              <a:lumOff val="8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olidFill>
                  <a:srgbClr val="222C39"/>
                </a:solidFill>
              </a:rPr>
              <a:t>Crisped Rice Waf</a:t>
            </a:r>
            <a:endParaRPr kumimoji="0" lang="en-GB" sz="1800" i="0" u="none" strike="noStrike" kern="1200" cap="none" spc="0" normalizeH="0" baseline="0" noProof="0" dirty="0">
              <a:ln>
                <a:noFill/>
              </a:ln>
              <a:solidFill>
                <a:srgbClr val="222C39"/>
              </a:solidFill>
              <a:effectLst/>
              <a:uLnTx/>
              <a:uFillTx/>
              <a:ea typeface="+mn-ea"/>
              <a:cs typeface="+mn-cs"/>
            </a:endParaRPr>
          </a:p>
        </p:txBody>
      </p:sp>
      <p:pic>
        <p:nvPicPr>
          <p:cNvPr id="50" name="Graphic 49" descr="Add">
            <a:extLst>
              <a:ext uri="{FF2B5EF4-FFF2-40B4-BE49-F238E27FC236}">
                <a16:creationId xmlns:a16="http://schemas.microsoft.com/office/drawing/2014/main" id="{38C54A23-0409-690E-3DAD-E03E0C1A72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8024" y="4960451"/>
            <a:ext cx="457200" cy="457200"/>
          </a:xfrm>
          <a:prstGeom prst="rect">
            <a:avLst/>
          </a:prstGeom>
        </p:spPr>
      </p:pic>
      <p:sp>
        <p:nvSpPr>
          <p:cNvPr id="51" name="TextBox 50">
            <a:extLst>
              <a:ext uri="{FF2B5EF4-FFF2-40B4-BE49-F238E27FC236}">
                <a16:creationId xmlns:a16="http://schemas.microsoft.com/office/drawing/2014/main" id="{D721BE5B-BD0A-BABD-C80A-7B67CCBC63A2}"/>
              </a:ext>
            </a:extLst>
          </p:cNvPr>
          <p:cNvSpPr txBox="1"/>
          <p:nvPr/>
        </p:nvSpPr>
        <p:spPr>
          <a:xfrm>
            <a:off x="10713051" y="4511845"/>
            <a:ext cx="1036320" cy="276999"/>
          </a:xfrm>
          <a:prstGeom prst="rect">
            <a:avLst/>
          </a:prstGeom>
          <a:noFill/>
        </p:spPr>
        <p:txBody>
          <a:bodyPr wrap="square" rtlCol="0">
            <a:spAutoFit/>
          </a:bodyPr>
          <a:lstStyle/>
          <a:p>
            <a:r>
              <a:rPr lang="en-US" sz="1200" dirty="0"/>
              <a:t>(Not hard)</a:t>
            </a:r>
            <a:endParaRPr lang="en-IN" sz="1200" dirty="0"/>
          </a:p>
        </p:txBody>
      </p:sp>
      <p:graphicFrame>
        <p:nvGraphicFramePr>
          <p:cNvPr id="52" name="Chart 51">
            <a:extLst>
              <a:ext uri="{FF2B5EF4-FFF2-40B4-BE49-F238E27FC236}">
                <a16:creationId xmlns:a16="http://schemas.microsoft.com/office/drawing/2014/main" id="{A52B32A2-0910-BBF1-485D-D5BD5CA4E67D}"/>
              </a:ext>
            </a:extLst>
          </p:cNvPr>
          <p:cNvGraphicFramePr>
            <a:graphicFrameLocks/>
          </p:cNvGraphicFramePr>
          <p:nvPr>
            <p:extLst>
              <p:ext uri="{D42A27DB-BD31-4B8C-83A1-F6EECF244321}">
                <p14:modId xmlns:p14="http://schemas.microsoft.com/office/powerpoint/2010/main" val="3608031508"/>
              </p:ext>
            </p:extLst>
          </p:nvPr>
        </p:nvGraphicFramePr>
        <p:xfrm>
          <a:off x="6830824" y="1827057"/>
          <a:ext cx="3877816" cy="257559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89989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EB874-97B8-E06A-5E17-8388CD0F81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85EE41-C444-9304-58A5-8E66065C9627}"/>
              </a:ext>
            </a:extLst>
          </p:cNvPr>
          <p:cNvSpPr txBox="1"/>
          <p:nvPr/>
        </p:nvSpPr>
        <p:spPr>
          <a:xfrm>
            <a:off x="767292" y="1667898"/>
            <a:ext cx="9301268" cy="769441"/>
          </a:xfrm>
          <a:prstGeom prst="rect">
            <a:avLst/>
          </a:prstGeom>
          <a:noFill/>
        </p:spPr>
        <p:txBody>
          <a:bodyPr wrap="square" rtlCol="0">
            <a:spAutoFit/>
          </a:bodyPr>
          <a:lstStyle/>
          <a:p>
            <a:pPr defTabSz="877824">
              <a:spcAft>
                <a:spcPts val="600"/>
              </a:spcAft>
            </a:pPr>
            <a:r>
              <a:rPr lang="en-US" sz="4400" dirty="0"/>
              <a:t>Presentation to the Head of Data and AI</a:t>
            </a:r>
            <a:endParaRPr lang="en-GB" sz="4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204050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54DC9-1649-D940-2196-136AA3D56409}"/>
            </a:ext>
          </a:extLst>
        </p:cNvPr>
        <p:cNvGrpSpPr/>
        <p:nvPr/>
      </p:nvGrpSpPr>
      <p:grpSpPr>
        <a:xfrm>
          <a:off x="0" y="0"/>
          <a:ext cx="0" cy="0"/>
          <a:chOff x="0" y="0"/>
          <a:chExt cx="0" cy="0"/>
        </a:xfrm>
      </p:grpSpPr>
      <p:sp>
        <p:nvSpPr>
          <p:cNvPr id="8" name="Text Placeholder 4">
            <a:extLst>
              <a:ext uri="{FF2B5EF4-FFF2-40B4-BE49-F238E27FC236}">
                <a16:creationId xmlns:a16="http://schemas.microsoft.com/office/drawing/2014/main" id="{56A11CC8-CCDF-D8E8-8FE3-F689E9D82DBF}"/>
              </a:ext>
            </a:extLst>
          </p:cNvPr>
          <p:cNvSpPr txBox="1">
            <a:spLocks/>
          </p:cNvSpPr>
          <p:nvPr/>
        </p:nvSpPr>
        <p:spPr>
          <a:xfrm>
            <a:off x="814387" y="697034"/>
            <a:ext cx="10588745" cy="541856"/>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2600" kern="1200">
                <a:solidFill>
                  <a:schemeClr val="tx2"/>
                </a:solidFill>
                <a:latin typeface="+mn-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22C39"/>
                </a:solidFill>
                <a:effectLst/>
                <a:uLnTx/>
                <a:uFillTx/>
                <a:latin typeface="Roboto Light"/>
                <a:ea typeface="+mn-ea"/>
                <a:cs typeface="+mn-cs"/>
              </a:rPr>
              <a:t>Developed a ML model</a:t>
            </a:r>
            <a:r>
              <a:rPr lang="en-US" dirty="0">
                <a:solidFill>
                  <a:srgbClr val="222C39"/>
                </a:solidFill>
                <a:latin typeface="Roboto Light"/>
              </a:rPr>
              <a:t> to predict </a:t>
            </a:r>
            <a:r>
              <a:rPr kumimoji="0" lang="en-US" sz="2600" b="0" i="0" u="none" strike="noStrike" kern="1200" cap="none" spc="0" normalizeH="0" baseline="0" noProof="0" dirty="0">
                <a:ln>
                  <a:noFill/>
                </a:ln>
                <a:solidFill>
                  <a:srgbClr val="222C39"/>
                </a:solidFill>
                <a:effectLst/>
                <a:uLnTx/>
                <a:uFillTx/>
                <a:latin typeface="Roboto Light"/>
                <a:ea typeface="+mn-ea"/>
                <a:cs typeface="+mn-cs"/>
              </a:rPr>
              <a:t>customer sentiment</a:t>
            </a:r>
          </a:p>
        </p:txBody>
      </p:sp>
      <p:sp>
        <p:nvSpPr>
          <p:cNvPr id="9" name="Text Placeholder 5">
            <a:extLst>
              <a:ext uri="{FF2B5EF4-FFF2-40B4-BE49-F238E27FC236}">
                <a16:creationId xmlns:a16="http://schemas.microsoft.com/office/drawing/2014/main" id="{7608B91D-232C-64B0-9854-2D8EEA2F08A8}"/>
              </a:ext>
            </a:extLst>
          </p:cNvPr>
          <p:cNvSpPr txBox="1">
            <a:spLocks/>
          </p:cNvSpPr>
          <p:nvPr/>
        </p:nvSpPr>
        <p:spPr>
          <a:xfrm>
            <a:off x="803276" y="337979"/>
            <a:ext cx="10573957" cy="246221"/>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1600" b="1" i="0" kern="1200">
                <a:solidFill>
                  <a:schemeClr val="tx2"/>
                </a:solidFill>
                <a:latin typeface="+mj-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222C39"/>
                </a:solidFill>
                <a:effectLst/>
                <a:uLnTx/>
                <a:uFillTx/>
                <a:latin typeface="Roboto"/>
                <a:ea typeface="+mn-ea"/>
                <a:cs typeface="+mn-cs"/>
              </a:rPr>
              <a:t>Approach</a:t>
            </a:r>
          </a:p>
        </p:txBody>
      </p:sp>
      <p:sp>
        <p:nvSpPr>
          <p:cNvPr id="16" name="TextBox 15">
            <a:extLst>
              <a:ext uri="{FF2B5EF4-FFF2-40B4-BE49-F238E27FC236}">
                <a16:creationId xmlns:a16="http://schemas.microsoft.com/office/drawing/2014/main" id="{41C5BAEE-131F-8416-8AD4-BB8C6236F263}"/>
              </a:ext>
            </a:extLst>
          </p:cNvPr>
          <p:cNvSpPr txBox="1"/>
          <p:nvPr/>
        </p:nvSpPr>
        <p:spPr>
          <a:xfrm>
            <a:off x="814388" y="1238890"/>
            <a:ext cx="4961292" cy="2075183"/>
          </a:xfrm>
          <a:prstGeom prst="rect">
            <a:avLst/>
          </a:prstGeom>
          <a:solidFill>
            <a:srgbClr val="FFFFFF">
              <a:lumMod val="95000"/>
            </a:srgbClr>
          </a:solidFill>
        </p:spPr>
        <p:txBody>
          <a:bodyPr wrap="square">
            <a:noAutofit/>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en-GB" b="1" kern="0" dirty="0">
                <a:solidFill>
                  <a:srgbClr val="222C39"/>
                </a:solidFill>
                <a:latin typeface="Roboto"/>
              </a:rPr>
              <a:t>Fe</a:t>
            </a:r>
            <a:r>
              <a:rPr kumimoji="0" lang="en-GB" sz="1800" b="1" i="0" u="none" strike="noStrike" kern="0" cap="none" spc="0" normalizeH="0" baseline="0" noProof="0" dirty="0" err="1">
                <a:ln>
                  <a:noFill/>
                </a:ln>
                <a:solidFill>
                  <a:srgbClr val="222C39"/>
                </a:solidFill>
                <a:effectLst/>
                <a:uLnTx/>
                <a:uFillTx/>
                <a:latin typeface="Roboto"/>
              </a:rPr>
              <a:t>ature</a:t>
            </a:r>
            <a:r>
              <a:rPr kumimoji="0" lang="en-GB" sz="1800" b="1" i="0" u="none" strike="noStrike" kern="0" cap="none" spc="0" normalizeH="0" baseline="0" noProof="0" dirty="0">
                <a:ln>
                  <a:noFill/>
                </a:ln>
                <a:solidFill>
                  <a:srgbClr val="222C39"/>
                </a:solidFill>
                <a:effectLst/>
                <a:uLnTx/>
                <a:uFillTx/>
                <a:latin typeface="Roboto"/>
              </a:rPr>
              <a:t> Selection</a:t>
            </a:r>
          </a:p>
          <a:p>
            <a:pPr marL="285750" indent="-285750">
              <a:buFont typeface="Arial" panose="020B0604020202020204" pitchFamily="34" charset="0"/>
              <a:buChar char="•"/>
              <a:defRPr/>
            </a:pPr>
            <a:r>
              <a:rPr lang="en-GB" dirty="0">
                <a:solidFill>
                  <a:srgbClr val="222C39"/>
                </a:solidFill>
                <a:latin typeface="Roboto Light"/>
              </a:rPr>
              <a:t>Dataset had some features that were correlated with other features or did not have enough variation.</a:t>
            </a:r>
          </a:p>
          <a:p>
            <a:pPr marL="285750" indent="-285750">
              <a:buFont typeface="Arial" panose="020B0604020202020204" pitchFamily="34" charset="0"/>
              <a:buChar char="•"/>
              <a:defRPr/>
            </a:pPr>
            <a:r>
              <a:rPr lang="en-GB" dirty="0">
                <a:solidFill>
                  <a:srgbClr val="222C39"/>
                </a:solidFill>
                <a:latin typeface="Roboto Light"/>
              </a:rPr>
              <a:t>So Recursive Feature Eliminations was used to select features for modelling.</a:t>
            </a:r>
          </a:p>
        </p:txBody>
      </p:sp>
      <p:graphicFrame>
        <p:nvGraphicFramePr>
          <p:cNvPr id="17" name="Chart 16">
            <a:extLst>
              <a:ext uri="{FF2B5EF4-FFF2-40B4-BE49-F238E27FC236}">
                <a16:creationId xmlns:a16="http://schemas.microsoft.com/office/drawing/2014/main" id="{3A4DD6F2-A4E3-416D-3DCE-AFB738ACDF19}"/>
              </a:ext>
            </a:extLst>
          </p:cNvPr>
          <p:cNvGraphicFramePr>
            <a:graphicFrameLocks/>
          </p:cNvGraphicFramePr>
          <p:nvPr>
            <p:extLst>
              <p:ext uri="{D42A27DB-BD31-4B8C-83A1-F6EECF244321}">
                <p14:modId xmlns:p14="http://schemas.microsoft.com/office/powerpoint/2010/main" val="206480915"/>
              </p:ext>
            </p:extLst>
          </p:nvPr>
        </p:nvGraphicFramePr>
        <p:xfrm>
          <a:off x="1009314" y="3314073"/>
          <a:ext cx="4766366" cy="2731966"/>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111AEAF8-5327-9803-4667-6617FC503312}"/>
              </a:ext>
            </a:extLst>
          </p:cNvPr>
          <p:cNvSpPr txBox="1"/>
          <p:nvPr/>
        </p:nvSpPr>
        <p:spPr>
          <a:xfrm>
            <a:off x="5923280" y="1238890"/>
            <a:ext cx="5479852" cy="453102"/>
          </a:xfrm>
          <a:prstGeom prst="rect">
            <a:avLst/>
          </a:prstGeom>
          <a:solidFill>
            <a:schemeClr val="accent1">
              <a:lumMod val="20000"/>
              <a:lumOff val="80000"/>
            </a:schemeClr>
          </a:solidFill>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GPR model with reasonable accuracy</a:t>
            </a:r>
          </a:p>
        </p:txBody>
      </p:sp>
      <p:graphicFrame>
        <p:nvGraphicFramePr>
          <p:cNvPr id="21" name="Chart 20">
            <a:extLst>
              <a:ext uri="{FF2B5EF4-FFF2-40B4-BE49-F238E27FC236}">
                <a16:creationId xmlns:a16="http://schemas.microsoft.com/office/drawing/2014/main" id="{ABD4EAFE-3123-DF80-DE0D-0E92FD3A40CE}"/>
              </a:ext>
            </a:extLst>
          </p:cNvPr>
          <p:cNvGraphicFramePr>
            <a:graphicFrameLocks/>
          </p:cNvGraphicFramePr>
          <p:nvPr>
            <p:extLst>
              <p:ext uri="{D42A27DB-BD31-4B8C-83A1-F6EECF244321}">
                <p14:modId xmlns:p14="http://schemas.microsoft.com/office/powerpoint/2010/main" val="2542459766"/>
              </p:ext>
            </p:extLst>
          </p:nvPr>
        </p:nvGraphicFramePr>
        <p:xfrm>
          <a:off x="6404274" y="1710833"/>
          <a:ext cx="4961292" cy="306530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3" name="Table 22">
            <a:extLst>
              <a:ext uri="{FF2B5EF4-FFF2-40B4-BE49-F238E27FC236}">
                <a16:creationId xmlns:a16="http://schemas.microsoft.com/office/drawing/2014/main" id="{428BAB36-DFD2-5150-6D46-80CA8E7F5698}"/>
              </a:ext>
            </a:extLst>
          </p:cNvPr>
          <p:cNvGraphicFramePr>
            <a:graphicFrameLocks noGrp="1"/>
          </p:cNvGraphicFramePr>
          <p:nvPr>
            <p:extLst>
              <p:ext uri="{D42A27DB-BD31-4B8C-83A1-F6EECF244321}">
                <p14:modId xmlns:p14="http://schemas.microsoft.com/office/powerpoint/2010/main" val="3953421036"/>
              </p:ext>
            </p:extLst>
          </p:nvPr>
        </p:nvGraphicFramePr>
        <p:xfrm>
          <a:off x="6416322" y="4698360"/>
          <a:ext cx="4635500" cy="920750"/>
        </p:xfrm>
        <a:graphic>
          <a:graphicData uri="http://schemas.openxmlformats.org/drawingml/2006/table">
            <a:tbl>
              <a:tblPr/>
              <a:tblGrid>
                <a:gridCol w="1739900">
                  <a:extLst>
                    <a:ext uri="{9D8B030D-6E8A-4147-A177-3AD203B41FA5}">
                      <a16:colId xmlns:a16="http://schemas.microsoft.com/office/drawing/2014/main" val="461525703"/>
                    </a:ext>
                  </a:extLst>
                </a:gridCol>
                <a:gridCol w="1003300">
                  <a:extLst>
                    <a:ext uri="{9D8B030D-6E8A-4147-A177-3AD203B41FA5}">
                      <a16:colId xmlns:a16="http://schemas.microsoft.com/office/drawing/2014/main" val="4207151522"/>
                    </a:ext>
                  </a:extLst>
                </a:gridCol>
                <a:gridCol w="977900">
                  <a:extLst>
                    <a:ext uri="{9D8B030D-6E8A-4147-A177-3AD203B41FA5}">
                      <a16:colId xmlns:a16="http://schemas.microsoft.com/office/drawing/2014/main" val="3096534519"/>
                    </a:ext>
                  </a:extLst>
                </a:gridCol>
                <a:gridCol w="914400">
                  <a:extLst>
                    <a:ext uri="{9D8B030D-6E8A-4147-A177-3AD203B41FA5}">
                      <a16:colId xmlns:a16="http://schemas.microsoft.com/office/drawing/2014/main" val="1217460615"/>
                    </a:ext>
                  </a:extLst>
                </a:gridCol>
              </a:tblGrid>
              <a:tr h="184150">
                <a:tc>
                  <a:txBody>
                    <a:bodyPr/>
                    <a:lstStyle/>
                    <a:p>
                      <a:pPr algn="l" fontAlgn="b">
                        <a:buNone/>
                      </a:pPr>
                      <a:r>
                        <a:rPr lang="en-IN" sz="1100" b="1" i="0" u="none" strike="noStrike" dirty="0">
                          <a:solidFill>
                            <a:srgbClr val="000000"/>
                          </a:solidFill>
                          <a:effectLst/>
                          <a:latin typeface="Calibri" panose="020F0502020204030204" pitchFamily="34" charset="0"/>
                        </a:rPr>
                        <a:t>Model</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100" b="1" i="0" u="none" strike="noStrike">
                          <a:solidFill>
                            <a:srgbClr val="000000"/>
                          </a:solidFill>
                          <a:effectLst/>
                          <a:latin typeface="Calibri" panose="020F0502020204030204" pitchFamily="34" charset="0"/>
                        </a:rPr>
                        <a:t>5 Fold CV (R2)</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100" b="1" i="0" u="none" strike="noStrike">
                          <a:solidFill>
                            <a:srgbClr val="000000"/>
                          </a:solidFill>
                          <a:effectLst/>
                          <a:latin typeface="Calibri" panose="020F0502020204030204" pitchFamily="34" charset="0"/>
                        </a:rPr>
                        <a:t>Train Set (R2)</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100" b="1" i="0" u="none" strike="noStrike">
                          <a:solidFill>
                            <a:srgbClr val="000000"/>
                          </a:solidFill>
                          <a:effectLst/>
                          <a:latin typeface="Calibri" panose="020F0502020204030204" pitchFamily="34" charset="0"/>
                        </a:rPr>
                        <a:t>Test Set (R2)</a:t>
                      </a:r>
                    </a:p>
                  </a:txBody>
                  <a:tcPr marL="6350" marR="6350" marT="635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9567004"/>
                  </a:ext>
                </a:extLst>
              </a:tr>
              <a:tr h="184150">
                <a:tc>
                  <a:txBody>
                    <a:bodyPr/>
                    <a:lstStyle/>
                    <a:p>
                      <a:pPr algn="l" fontAlgn="b">
                        <a:buNone/>
                      </a:pPr>
                      <a:r>
                        <a:rPr lang="en-IN" sz="1100" b="0" i="0" u="none" strike="noStrike">
                          <a:solidFill>
                            <a:srgbClr val="000000"/>
                          </a:solidFill>
                          <a:effectLst/>
                          <a:latin typeface="Calibri" panose="020F0502020204030204" pitchFamily="34" charset="0"/>
                        </a:rPr>
                        <a:t>Baseline (Mean Prediction)</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IN" sz="1100" b="0" i="0" u="none" strike="noStrike">
                          <a:solidFill>
                            <a:srgbClr val="000000"/>
                          </a:solidFill>
                          <a:effectLst/>
                          <a:latin typeface="Calibri" panose="020F0502020204030204" pitchFamily="34" charset="0"/>
                        </a:rPr>
                        <a:t>-0.26</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IN" sz="1100" b="0" i="0" u="none" strike="noStrike">
                          <a:solidFill>
                            <a:srgbClr val="000000"/>
                          </a:solidFill>
                          <a:effectLst/>
                          <a:latin typeface="Calibri" panose="020F0502020204030204" pitchFamily="34" charset="0"/>
                        </a:rPr>
                        <a:t>0</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IN" sz="1100" b="0" i="0" u="none" strike="noStrike">
                          <a:solidFill>
                            <a:srgbClr val="000000"/>
                          </a:solidFill>
                          <a:effectLst/>
                          <a:latin typeface="Calibri" panose="020F0502020204030204" pitchFamily="34" charset="0"/>
                        </a:rPr>
                        <a:t>-0.03</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507647243"/>
                  </a:ext>
                </a:extLst>
              </a:tr>
              <a:tr h="184150">
                <a:tc>
                  <a:txBody>
                    <a:bodyPr/>
                    <a:lstStyle/>
                    <a:p>
                      <a:pPr algn="l" fontAlgn="b">
                        <a:buNone/>
                      </a:pPr>
                      <a:r>
                        <a:rPr lang="en-IN" sz="1100" b="0" i="0" u="none" strike="noStrike">
                          <a:solidFill>
                            <a:srgbClr val="000000"/>
                          </a:solidFill>
                          <a:effectLst/>
                          <a:latin typeface="Calibri" panose="020F0502020204030204" pitchFamily="34" charset="0"/>
                        </a:rPr>
                        <a:t>Linear Regression</a:t>
                      </a:r>
                    </a:p>
                  </a:txBody>
                  <a:tcPr marL="6350" marR="6350" marT="6350" marB="0" anchor="b">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0.35</a:t>
                      </a:r>
                    </a:p>
                  </a:txBody>
                  <a:tcPr marL="6350" marR="6350" marT="6350" marB="0" anchor="b">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0.52</a:t>
                      </a:r>
                    </a:p>
                  </a:txBody>
                  <a:tcPr marL="6350" marR="6350" marT="6350" marB="0" anchor="b">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0.45</a:t>
                      </a:r>
                    </a:p>
                  </a:txBody>
                  <a:tcPr marL="6350" marR="6350" marT="6350" marB="0" anchor="b">
                    <a:lnL>
                      <a:noFill/>
                    </a:lnL>
                    <a:lnR>
                      <a:noFill/>
                    </a:lnR>
                    <a:lnT>
                      <a:noFill/>
                    </a:lnT>
                    <a:lnB>
                      <a:noFill/>
                    </a:lnB>
                    <a:noFill/>
                  </a:tcPr>
                </a:tc>
                <a:extLst>
                  <a:ext uri="{0D108BD9-81ED-4DB2-BD59-A6C34878D82A}">
                    <a16:rowId xmlns:a16="http://schemas.microsoft.com/office/drawing/2014/main" val="224954953"/>
                  </a:ext>
                </a:extLst>
              </a:tr>
              <a:tr h="184150">
                <a:tc>
                  <a:txBody>
                    <a:bodyPr/>
                    <a:lstStyle/>
                    <a:p>
                      <a:pPr algn="l" fontAlgn="b">
                        <a:buNone/>
                      </a:pPr>
                      <a:r>
                        <a:rPr lang="en-IN" sz="1100" b="1" i="0" u="none" strike="noStrike" dirty="0">
                          <a:solidFill>
                            <a:srgbClr val="000000"/>
                          </a:solidFill>
                          <a:effectLst/>
                          <a:latin typeface="Calibri" panose="020F0502020204030204" pitchFamily="34" charset="0"/>
                        </a:rPr>
                        <a:t>Gaussian Process Regression</a:t>
                      </a:r>
                    </a:p>
                  </a:txBody>
                  <a:tcPr marL="6350" marR="6350" marT="6350" marB="0" anchor="b">
                    <a:lnL>
                      <a:noFill/>
                    </a:lnL>
                    <a:lnR>
                      <a:noFill/>
                    </a:lnR>
                    <a:lnT>
                      <a:noFill/>
                    </a:lnT>
                    <a:lnB>
                      <a:noFill/>
                    </a:lnB>
                    <a:solidFill>
                      <a:srgbClr val="D9D9D9"/>
                    </a:solidFill>
                  </a:tcPr>
                </a:tc>
                <a:tc>
                  <a:txBody>
                    <a:bodyPr/>
                    <a:lstStyle/>
                    <a:p>
                      <a:pPr algn="r" fontAlgn="b">
                        <a:buNone/>
                      </a:pPr>
                      <a:r>
                        <a:rPr lang="en-IN" sz="1100" b="0" i="0" u="none" strike="noStrike">
                          <a:solidFill>
                            <a:srgbClr val="000000"/>
                          </a:solidFill>
                          <a:effectLst/>
                          <a:latin typeface="Calibri" panose="020F0502020204030204" pitchFamily="34" charset="0"/>
                        </a:rPr>
                        <a:t>0.34</a:t>
                      </a:r>
                    </a:p>
                  </a:txBody>
                  <a:tcPr marL="6350" marR="6350" marT="6350" marB="0" anchor="b">
                    <a:lnL>
                      <a:noFill/>
                    </a:lnL>
                    <a:lnR>
                      <a:noFill/>
                    </a:lnR>
                    <a:lnT>
                      <a:noFill/>
                    </a:lnT>
                    <a:lnB>
                      <a:noFill/>
                    </a:lnB>
                    <a:solidFill>
                      <a:srgbClr val="D9D9D9"/>
                    </a:solidFill>
                  </a:tcPr>
                </a:tc>
                <a:tc>
                  <a:txBody>
                    <a:bodyPr/>
                    <a:lstStyle/>
                    <a:p>
                      <a:pPr algn="r" fontAlgn="b">
                        <a:buNone/>
                      </a:pPr>
                      <a:r>
                        <a:rPr lang="en-IN" sz="1100" b="0" i="0" u="none" strike="noStrike">
                          <a:solidFill>
                            <a:srgbClr val="000000"/>
                          </a:solidFill>
                          <a:effectLst/>
                          <a:latin typeface="Calibri" panose="020F0502020204030204" pitchFamily="34" charset="0"/>
                        </a:rPr>
                        <a:t>0.56</a:t>
                      </a:r>
                    </a:p>
                  </a:txBody>
                  <a:tcPr marL="6350" marR="6350" marT="6350" marB="0" anchor="b">
                    <a:lnL>
                      <a:noFill/>
                    </a:lnL>
                    <a:lnR>
                      <a:noFill/>
                    </a:lnR>
                    <a:lnT>
                      <a:noFill/>
                    </a:lnT>
                    <a:lnB>
                      <a:noFill/>
                    </a:lnB>
                    <a:solidFill>
                      <a:srgbClr val="D9D9D9"/>
                    </a:solidFill>
                  </a:tcPr>
                </a:tc>
                <a:tc>
                  <a:txBody>
                    <a:bodyPr/>
                    <a:lstStyle/>
                    <a:p>
                      <a:pPr algn="r" fontAlgn="b">
                        <a:buNone/>
                      </a:pPr>
                      <a:r>
                        <a:rPr lang="en-IN" sz="1100" b="0" i="0" u="none" strike="noStrike">
                          <a:solidFill>
                            <a:srgbClr val="000000"/>
                          </a:solidFill>
                          <a:effectLst/>
                          <a:latin typeface="Calibri" panose="020F0502020204030204" pitchFamily="34" charset="0"/>
                        </a:rPr>
                        <a:t>0.48</a:t>
                      </a:r>
                    </a:p>
                  </a:txBody>
                  <a:tcPr marL="6350" marR="6350" marT="6350" marB="0" anchor="b">
                    <a:lnL>
                      <a:noFill/>
                    </a:lnL>
                    <a:lnR>
                      <a:noFill/>
                    </a:lnR>
                    <a:lnT>
                      <a:noFill/>
                    </a:lnT>
                    <a:lnB>
                      <a:noFill/>
                    </a:lnB>
                    <a:solidFill>
                      <a:srgbClr val="D9D9D9"/>
                    </a:solidFill>
                  </a:tcPr>
                </a:tc>
                <a:extLst>
                  <a:ext uri="{0D108BD9-81ED-4DB2-BD59-A6C34878D82A}">
                    <a16:rowId xmlns:a16="http://schemas.microsoft.com/office/drawing/2014/main" val="3867016361"/>
                  </a:ext>
                </a:extLst>
              </a:tr>
              <a:tr h="184150">
                <a:tc>
                  <a:txBody>
                    <a:bodyPr/>
                    <a:lstStyle/>
                    <a:p>
                      <a:pPr algn="l" fontAlgn="b">
                        <a:buNone/>
                      </a:pPr>
                      <a:r>
                        <a:rPr lang="en-IN" sz="1100" b="0" i="0" u="none" strike="noStrike" dirty="0">
                          <a:solidFill>
                            <a:srgbClr val="000000"/>
                          </a:solidFill>
                          <a:effectLst/>
                          <a:latin typeface="Calibri" panose="020F0502020204030204" pitchFamily="34" charset="0"/>
                        </a:rPr>
                        <a:t>XG Boost</a:t>
                      </a:r>
                    </a:p>
                  </a:txBody>
                  <a:tcPr marL="6350" marR="6350" marT="6350" marB="0" anchor="b">
                    <a:lnL>
                      <a:noFill/>
                    </a:lnL>
                    <a:lnR>
                      <a:noFill/>
                    </a:lnR>
                    <a:lnT>
                      <a:noFill/>
                    </a:lnT>
                    <a:lnB>
                      <a:noFill/>
                    </a:lnB>
                    <a:noFill/>
                  </a:tcPr>
                </a:tc>
                <a:tc>
                  <a:txBody>
                    <a:bodyPr/>
                    <a:lstStyle/>
                    <a:p>
                      <a:pPr algn="r" fontAlgn="b">
                        <a:buNone/>
                      </a:pPr>
                      <a:r>
                        <a:rPr lang="en-IN" sz="1100" b="0" i="0" u="none" strike="noStrike">
                          <a:solidFill>
                            <a:srgbClr val="000000"/>
                          </a:solidFill>
                          <a:effectLst/>
                          <a:latin typeface="Calibri" panose="020F0502020204030204" pitchFamily="34" charset="0"/>
                        </a:rPr>
                        <a:t>0.31</a:t>
                      </a:r>
                    </a:p>
                  </a:txBody>
                  <a:tcPr marL="6350" marR="6350" marT="6350" marB="0" anchor="b">
                    <a:lnL>
                      <a:noFill/>
                    </a:lnL>
                    <a:lnR>
                      <a:noFill/>
                    </a:lnR>
                    <a:lnT>
                      <a:noFill/>
                    </a:lnT>
                    <a:lnB>
                      <a:noFill/>
                    </a:lnB>
                    <a:noFill/>
                  </a:tcPr>
                </a:tc>
                <a:tc>
                  <a:txBody>
                    <a:bodyPr/>
                    <a:lstStyle/>
                    <a:p>
                      <a:pPr algn="r" fontAlgn="b">
                        <a:buNone/>
                      </a:pPr>
                      <a:r>
                        <a:rPr lang="en-IN" sz="1100" b="0" i="0" u="none" strike="noStrike" dirty="0">
                          <a:solidFill>
                            <a:srgbClr val="000000"/>
                          </a:solidFill>
                          <a:effectLst/>
                          <a:latin typeface="Calibri" panose="020F0502020204030204" pitchFamily="34" charset="0"/>
                        </a:rPr>
                        <a:t>0.58</a:t>
                      </a:r>
                    </a:p>
                  </a:txBody>
                  <a:tcPr marL="6350" marR="6350" marT="6350" marB="0" anchor="b">
                    <a:lnL>
                      <a:noFill/>
                    </a:lnL>
                    <a:lnR>
                      <a:noFill/>
                    </a:lnR>
                    <a:lnT>
                      <a:noFill/>
                    </a:lnT>
                    <a:lnB>
                      <a:noFill/>
                    </a:lnB>
                    <a:noFill/>
                  </a:tcPr>
                </a:tc>
                <a:tc>
                  <a:txBody>
                    <a:bodyPr/>
                    <a:lstStyle/>
                    <a:p>
                      <a:pPr algn="r" fontAlgn="b">
                        <a:buNone/>
                      </a:pPr>
                      <a:r>
                        <a:rPr lang="en-IN" sz="1100" b="0" i="0" u="none" strike="noStrike" dirty="0">
                          <a:solidFill>
                            <a:srgbClr val="000000"/>
                          </a:solidFill>
                          <a:effectLst/>
                          <a:latin typeface="Calibri" panose="020F0502020204030204" pitchFamily="34" charset="0"/>
                        </a:rPr>
                        <a:t>0.55</a:t>
                      </a:r>
                    </a:p>
                  </a:txBody>
                  <a:tcPr marL="6350" marR="6350" marT="6350" marB="0" anchor="b">
                    <a:lnL>
                      <a:noFill/>
                    </a:lnL>
                    <a:lnR>
                      <a:noFill/>
                    </a:lnR>
                    <a:lnT>
                      <a:noFill/>
                    </a:lnT>
                    <a:lnB>
                      <a:noFill/>
                    </a:lnB>
                    <a:noFill/>
                  </a:tcPr>
                </a:tc>
                <a:extLst>
                  <a:ext uri="{0D108BD9-81ED-4DB2-BD59-A6C34878D82A}">
                    <a16:rowId xmlns:a16="http://schemas.microsoft.com/office/drawing/2014/main" val="3430943695"/>
                  </a:ext>
                </a:extLst>
              </a:tr>
            </a:tbl>
          </a:graphicData>
        </a:graphic>
      </p:graphicFrame>
      <p:sp>
        <p:nvSpPr>
          <p:cNvPr id="25" name="TextBox 24">
            <a:extLst>
              <a:ext uri="{FF2B5EF4-FFF2-40B4-BE49-F238E27FC236}">
                <a16:creationId xmlns:a16="http://schemas.microsoft.com/office/drawing/2014/main" id="{DC346E44-B945-18B0-8EBC-FCC692510486}"/>
              </a:ext>
            </a:extLst>
          </p:cNvPr>
          <p:cNvSpPr txBox="1"/>
          <p:nvPr/>
        </p:nvSpPr>
        <p:spPr>
          <a:xfrm>
            <a:off x="6293454" y="5745467"/>
            <a:ext cx="5109678" cy="830997"/>
          </a:xfrm>
          <a:prstGeom prst="rect">
            <a:avLst/>
          </a:prstGeom>
          <a:noFill/>
        </p:spPr>
        <p:txBody>
          <a:bodyPr wrap="square">
            <a:spAutoFit/>
          </a:bodyPr>
          <a:lstStyle/>
          <a:p>
            <a:pPr>
              <a:defRPr/>
            </a:pPr>
            <a:r>
              <a:rPr lang="en-GB" sz="1600" dirty="0">
                <a:solidFill>
                  <a:srgbClr val="222C39"/>
                </a:solidFill>
                <a:latin typeface="Roboto Light"/>
              </a:rPr>
              <a:t>GPR was selected because of its ability to give uncertainties as well. It had </a:t>
            </a:r>
            <a:r>
              <a:rPr lang="en-GB" sz="1600" b="1" dirty="0">
                <a:solidFill>
                  <a:srgbClr val="222C39"/>
                </a:solidFill>
                <a:latin typeface="Roboto Light"/>
              </a:rPr>
              <a:t>0.73 Rs (spearman correlation) for ranking candies.</a:t>
            </a:r>
          </a:p>
        </p:txBody>
      </p:sp>
      <p:cxnSp>
        <p:nvCxnSpPr>
          <p:cNvPr id="3" name="Straight Connector 2">
            <a:extLst>
              <a:ext uri="{FF2B5EF4-FFF2-40B4-BE49-F238E27FC236}">
                <a16:creationId xmlns:a16="http://schemas.microsoft.com/office/drawing/2014/main" id="{2332C279-0243-7C10-726C-0028A57C385A}"/>
              </a:ext>
            </a:extLst>
          </p:cNvPr>
          <p:cNvCxnSpPr>
            <a:cxnSpLocks/>
          </p:cNvCxnSpPr>
          <p:nvPr/>
        </p:nvCxnSpPr>
        <p:spPr>
          <a:xfrm flipV="1">
            <a:off x="6969760" y="1901957"/>
            <a:ext cx="3474720" cy="2283963"/>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989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77D5-FF7E-D90E-6CD4-919D86D23C2C}"/>
            </a:ext>
          </a:extLst>
        </p:cNvPr>
        <p:cNvGrpSpPr/>
        <p:nvPr/>
      </p:nvGrpSpPr>
      <p:grpSpPr>
        <a:xfrm>
          <a:off x="0" y="0"/>
          <a:ext cx="0" cy="0"/>
          <a:chOff x="0" y="0"/>
          <a:chExt cx="0" cy="0"/>
        </a:xfrm>
      </p:grpSpPr>
      <p:sp>
        <p:nvSpPr>
          <p:cNvPr id="8" name="Text Placeholder 4">
            <a:extLst>
              <a:ext uri="{FF2B5EF4-FFF2-40B4-BE49-F238E27FC236}">
                <a16:creationId xmlns:a16="http://schemas.microsoft.com/office/drawing/2014/main" id="{CE4606B3-2F6A-E348-FD41-91EEFB5559CE}"/>
              </a:ext>
            </a:extLst>
          </p:cNvPr>
          <p:cNvSpPr txBox="1">
            <a:spLocks/>
          </p:cNvSpPr>
          <p:nvPr/>
        </p:nvSpPr>
        <p:spPr>
          <a:xfrm>
            <a:off x="814387" y="697034"/>
            <a:ext cx="10588745" cy="541856"/>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2600" kern="1200">
                <a:solidFill>
                  <a:schemeClr val="tx2"/>
                </a:solidFill>
                <a:latin typeface="+mn-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lang="en-US" dirty="0">
                <a:solidFill>
                  <a:srgbClr val="222C39"/>
                </a:solidFill>
                <a:latin typeface="Roboto Light"/>
              </a:rPr>
              <a:t>Sensitivity analysis on design space was used to give recommendations</a:t>
            </a:r>
            <a:endParaRPr kumimoji="0" lang="en-US" sz="2600" b="0" i="0" u="none" strike="noStrike" kern="1200" cap="none" spc="0" normalizeH="0" baseline="0" noProof="0" dirty="0">
              <a:ln>
                <a:noFill/>
              </a:ln>
              <a:solidFill>
                <a:srgbClr val="222C39"/>
              </a:solidFill>
              <a:effectLst/>
              <a:uLnTx/>
              <a:uFillTx/>
              <a:latin typeface="Roboto Light"/>
              <a:ea typeface="+mn-ea"/>
              <a:cs typeface="+mn-cs"/>
            </a:endParaRPr>
          </a:p>
        </p:txBody>
      </p:sp>
      <p:sp>
        <p:nvSpPr>
          <p:cNvPr id="9" name="Text Placeholder 5">
            <a:extLst>
              <a:ext uri="{FF2B5EF4-FFF2-40B4-BE49-F238E27FC236}">
                <a16:creationId xmlns:a16="http://schemas.microsoft.com/office/drawing/2014/main" id="{CD4F2E9C-9F4C-3202-9781-A009CE5E44C7}"/>
              </a:ext>
            </a:extLst>
          </p:cNvPr>
          <p:cNvSpPr txBox="1">
            <a:spLocks/>
          </p:cNvSpPr>
          <p:nvPr/>
        </p:nvSpPr>
        <p:spPr>
          <a:xfrm>
            <a:off x="803276" y="337979"/>
            <a:ext cx="10573957" cy="246221"/>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1600" b="1" i="0" kern="1200">
                <a:solidFill>
                  <a:schemeClr val="tx2"/>
                </a:solidFill>
                <a:latin typeface="+mj-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222C39"/>
                </a:solidFill>
                <a:effectLst/>
                <a:uLnTx/>
                <a:uFillTx/>
                <a:latin typeface="Roboto"/>
                <a:ea typeface="+mn-ea"/>
                <a:cs typeface="+mn-cs"/>
              </a:rPr>
              <a:t>Approach</a:t>
            </a:r>
          </a:p>
        </p:txBody>
      </p:sp>
      <p:pic>
        <p:nvPicPr>
          <p:cNvPr id="3" name="Picture 2">
            <a:extLst>
              <a:ext uri="{FF2B5EF4-FFF2-40B4-BE49-F238E27FC236}">
                <a16:creationId xmlns:a16="http://schemas.microsoft.com/office/drawing/2014/main" id="{400B0BCE-FC92-33B6-3803-9780F54D3920}"/>
              </a:ext>
            </a:extLst>
          </p:cNvPr>
          <p:cNvPicPr>
            <a:picLocks noChangeAspect="1"/>
          </p:cNvPicPr>
          <p:nvPr/>
        </p:nvPicPr>
        <p:blipFill>
          <a:blip r:embed="rId3"/>
          <a:srcRect t="8162"/>
          <a:stretch>
            <a:fillRect/>
          </a:stretch>
        </p:blipFill>
        <p:spPr>
          <a:xfrm>
            <a:off x="814387" y="1870381"/>
            <a:ext cx="5095875" cy="3490277"/>
          </a:xfrm>
          <a:prstGeom prst="rect">
            <a:avLst/>
          </a:prstGeom>
        </p:spPr>
      </p:pic>
      <p:pic>
        <p:nvPicPr>
          <p:cNvPr id="5" name="Picture 4">
            <a:extLst>
              <a:ext uri="{FF2B5EF4-FFF2-40B4-BE49-F238E27FC236}">
                <a16:creationId xmlns:a16="http://schemas.microsoft.com/office/drawing/2014/main" id="{908086D5-6B9C-4593-97DF-70489A14972C}"/>
              </a:ext>
            </a:extLst>
          </p:cNvPr>
          <p:cNvPicPr>
            <a:picLocks noChangeAspect="1"/>
          </p:cNvPicPr>
          <p:nvPr/>
        </p:nvPicPr>
        <p:blipFill>
          <a:blip r:embed="rId4"/>
          <a:srcRect t="8162"/>
          <a:stretch>
            <a:fillRect/>
          </a:stretch>
        </p:blipFill>
        <p:spPr>
          <a:xfrm>
            <a:off x="6281740" y="1870381"/>
            <a:ext cx="4914900" cy="3490277"/>
          </a:xfrm>
          <a:prstGeom prst="rect">
            <a:avLst/>
          </a:prstGeom>
        </p:spPr>
      </p:pic>
      <p:sp>
        <p:nvSpPr>
          <p:cNvPr id="6" name="TextBox 5">
            <a:extLst>
              <a:ext uri="{FF2B5EF4-FFF2-40B4-BE49-F238E27FC236}">
                <a16:creationId xmlns:a16="http://schemas.microsoft.com/office/drawing/2014/main" id="{18A2D27B-E9FC-ED1E-3D24-45DAE6FB9C29}"/>
              </a:ext>
            </a:extLst>
          </p:cNvPr>
          <p:cNvSpPr txBox="1"/>
          <p:nvPr/>
        </p:nvSpPr>
        <p:spPr>
          <a:xfrm>
            <a:off x="803276" y="1258540"/>
            <a:ext cx="5292724" cy="453102"/>
          </a:xfrm>
          <a:prstGeom prst="rect">
            <a:avLst/>
          </a:prstGeom>
          <a:solidFill>
            <a:schemeClr val="accent1">
              <a:lumMod val="20000"/>
              <a:lumOff val="80000"/>
            </a:schemeClr>
          </a:solidFill>
        </p:spPr>
        <p:txBody>
          <a:bodyPr wrap="square" anchor="ctr">
            <a:noAutofit/>
          </a:bodyPr>
          <a:lstStyle/>
          <a:p>
            <a:pPr lvl="0" algn="ctr">
              <a:defRPr/>
            </a:pPr>
            <a:r>
              <a:rPr kumimoji="0" lang="en-GB" sz="1800" b="1" i="0" u="none" strike="noStrike" kern="0" cap="none" spc="0" normalizeH="0" baseline="0" noProof="0" dirty="0">
                <a:ln>
                  <a:noFill/>
                </a:ln>
                <a:solidFill>
                  <a:srgbClr val="222C39"/>
                </a:solidFill>
                <a:effectLst/>
                <a:uLnTx/>
                <a:uFillTx/>
                <a:latin typeface="Roboto"/>
              </a:rPr>
              <a:t>Experimental Data in </a:t>
            </a:r>
            <a:r>
              <a:rPr lang="en-GB" b="1" kern="0" dirty="0">
                <a:solidFill>
                  <a:srgbClr val="222C39"/>
                </a:solidFill>
                <a:latin typeface="Roboto"/>
              </a:rPr>
              <a:t>reduced </a:t>
            </a:r>
            <a:r>
              <a:rPr kumimoji="0" lang="en-GB" sz="1800" b="1" i="0" u="none" strike="noStrike" kern="0" cap="none" spc="0" normalizeH="0" baseline="0" noProof="0" dirty="0">
                <a:ln>
                  <a:noFill/>
                </a:ln>
                <a:solidFill>
                  <a:srgbClr val="222C39"/>
                </a:solidFill>
                <a:effectLst/>
                <a:uLnTx/>
                <a:uFillTx/>
                <a:latin typeface="Roboto"/>
              </a:rPr>
              <a:t>2-D space</a:t>
            </a:r>
          </a:p>
        </p:txBody>
      </p:sp>
      <p:sp>
        <p:nvSpPr>
          <p:cNvPr id="7" name="TextBox 6">
            <a:extLst>
              <a:ext uri="{FF2B5EF4-FFF2-40B4-BE49-F238E27FC236}">
                <a16:creationId xmlns:a16="http://schemas.microsoft.com/office/drawing/2014/main" id="{C97934A3-F0FF-1458-3EB4-DD263611E01C}"/>
              </a:ext>
            </a:extLst>
          </p:cNvPr>
          <p:cNvSpPr txBox="1"/>
          <p:nvPr/>
        </p:nvSpPr>
        <p:spPr>
          <a:xfrm>
            <a:off x="6281740" y="1258540"/>
            <a:ext cx="5095493" cy="453102"/>
          </a:xfrm>
          <a:prstGeom prst="rect">
            <a:avLst/>
          </a:prstGeom>
          <a:solidFill>
            <a:schemeClr val="bg2">
              <a:lumMod val="90000"/>
            </a:schemeClr>
          </a:solidFill>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Design Space in 2-D with predictions</a:t>
            </a:r>
          </a:p>
        </p:txBody>
      </p:sp>
      <p:pic>
        <p:nvPicPr>
          <p:cNvPr id="12" name="Picture 11">
            <a:extLst>
              <a:ext uri="{FF2B5EF4-FFF2-40B4-BE49-F238E27FC236}">
                <a16:creationId xmlns:a16="http://schemas.microsoft.com/office/drawing/2014/main" id="{C4C667AC-6C65-D5AA-8E96-5472DC52403E}"/>
              </a:ext>
            </a:extLst>
          </p:cNvPr>
          <p:cNvPicPr>
            <a:picLocks noChangeAspect="1"/>
          </p:cNvPicPr>
          <p:nvPr/>
        </p:nvPicPr>
        <p:blipFill>
          <a:blip r:embed="rId5"/>
          <a:srcRect l="50000" t="10115" r="16098" b="77445"/>
          <a:stretch>
            <a:fillRect/>
          </a:stretch>
        </p:blipFill>
        <p:spPr>
          <a:xfrm>
            <a:off x="8739190" y="1731292"/>
            <a:ext cx="1666240" cy="472751"/>
          </a:xfrm>
          <a:prstGeom prst="rect">
            <a:avLst/>
          </a:prstGeom>
        </p:spPr>
      </p:pic>
      <p:sp>
        <p:nvSpPr>
          <p:cNvPr id="14" name="TextBox 13">
            <a:extLst>
              <a:ext uri="{FF2B5EF4-FFF2-40B4-BE49-F238E27FC236}">
                <a16:creationId xmlns:a16="http://schemas.microsoft.com/office/drawing/2014/main" id="{2F76DD0A-68D9-BF8D-4897-7441AC4A5BC3}"/>
              </a:ext>
            </a:extLst>
          </p:cNvPr>
          <p:cNvSpPr txBox="1"/>
          <p:nvPr/>
        </p:nvSpPr>
        <p:spPr>
          <a:xfrm>
            <a:off x="814387" y="5360658"/>
            <a:ext cx="10599856"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Roboto Light" panose="02000000000000000000" pitchFamily="2" charset="0"/>
                <a:ea typeface="Roboto Light" panose="02000000000000000000" pitchFamily="2" charset="0"/>
                <a:cs typeface="Roboto Light" panose="02000000000000000000" pitchFamily="2" charset="0"/>
              </a:rPr>
              <a:t>We used predictions from the design space to understand which features strongly influence how customers perceive different </a:t>
            </a:r>
            <a:r>
              <a:rPr lang="en-US" sz="1600" dirty="0" err="1">
                <a:latin typeface="Roboto Light" panose="02000000000000000000" pitchFamily="2" charset="0"/>
                <a:ea typeface="Roboto Light" panose="02000000000000000000" pitchFamily="2" charset="0"/>
                <a:cs typeface="Roboto Light" panose="02000000000000000000" pitchFamily="2" charset="0"/>
              </a:rPr>
              <a:t>flavours</a:t>
            </a:r>
            <a:r>
              <a:rPr lang="en-US" sz="1600" dirty="0">
                <a:latin typeface="Roboto Light" panose="02000000000000000000" pitchFamily="2" charset="0"/>
                <a:ea typeface="Roboto Light" panose="02000000000000000000" pitchFamily="2" charset="0"/>
                <a:cs typeface="Roboto Light" panose="02000000000000000000" pitchFamily="2" charset="0"/>
              </a:rPr>
              <a:t>. </a:t>
            </a:r>
          </a:p>
          <a:p>
            <a:pPr marL="285750" indent="-285750">
              <a:buFont typeface="Arial" panose="020B0604020202020204" pitchFamily="34" charset="0"/>
              <a:buChar char="•"/>
            </a:pPr>
            <a:r>
              <a:rPr lang="en-US" sz="1600" dirty="0">
                <a:latin typeface="Roboto Light" panose="02000000000000000000" pitchFamily="2" charset="0"/>
                <a:ea typeface="Roboto Light" panose="02000000000000000000" pitchFamily="2" charset="0"/>
                <a:cs typeface="Roboto Light" panose="02000000000000000000" pitchFamily="2" charset="0"/>
              </a:rPr>
              <a:t>The sensitivity analysis helped us identify and quantify each feature’s individual impact by averaging out the effects of all other features. (Helps in answering “</a:t>
            </a:r>
            <a:r>
              <a:rPr lang="en-IN" sz="1600" dirty="0">
                <a:latin typeface="Roboto Light" panose="02000000000000000000" pitchFamily="2" charset="0"/>
                <a:ea typeface="Roboto Light" panose="02000000000000000000" pitchFamily="2" charset="0"/>
                <a:cs typeface="Roboto Light" panose="02000000000000000000" pitchFamily="2" charset="0"/>
              </a:rPr>
              <a:t>cookie-based sweets”</a:t>
            </a:r>
            <a:r>
              <a:rPr lang="en-US" sz="1600" dirty="0">
                <a:latin typeface="Roboto Light" panose="02000000000000000000" pitchFamily="2" charset="0"/>
                <a:ea typeface="Roboto Light" panose="02000000000000000000" pitchFamily="2" charset="0"/>
                <a:cs typeface="Roboto Light" panose="02000000000000000000" pitchFamily="2" charset="0"/>
              </a:rPr>
              <a:t> or “cookie”? type questions).</a:t>
            </a:r>
            <a:endParaRPr lang="en-IN" sz="1600" dirty="0">
              <a:latin typeface="Roboto Light" panose="02000000000000000000" pitchFamily="2" charset="0"/>
              <a:ea typeface="Roboto Light" panose="02000000000000000000" pitchFamily="2" charset="0"/>
              <a:cs typeface="Roboto Light" panose="02000000000000000000" pitchFamily="2" charset="0"/>
            </a:endParaRPr>
          </a:p>
        </p:txBody>
      </p:sp>
    </p:spTree>
    <p:extLst>
      <p:ext uri="{BB962C8B-B14F-4D97-AF65-F5344CB8AC3E}">
        <p14:creationId xmlns:p14="http://schemas.microsoft.com/office/powerpoint/2010/main" val="666243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F681B-9A57-0604-B507-5DD1F101FA84}"/>
            </a:ext>
          </a:extLst>
        </p:cNvPr>
        <p:cNvGrpSpPr/>
        <p:nvPr/>
      </p:nvGrpSpPr>
      <p:grpSpPr>
        <a:xfrm>
          <a:off x="0" y="0"/>
          <a:ext cx="0" cy="0"/>
          <a:chOff x="0" y="0"/>
          <a:chExt cx="0" cy="0"/>
        </a:xfrm>
      </p:grpSpPr>
      <p:sp>
        <p:nvSpPr>
          <p:cNvPr id="8" name="Text Placeholder 4">
            <a:extLst>
              <a:ext uri="{FF2B5EF4-FFF2-40B4-BE49-F238E27FC236}">
                <a16:creationId xmlns:a16="http://schemas.microsoft.com/office/drawing/2014/main" id="{5962E805-4CC9-C5DB-4060-2641044979F2}"/>
              </a:ext>
            </a:extLst>
          </p:cNvPr>
          <p:cNvSpPr txBox="1">
            <a:spLocks/>
          </p:cNvSpPr>
          <p:nvPr/>
        </p:nvSpPr>
        <p:spPr>
          <a:xfrm>
            <a:off x="814387" y="697034"/>
            <a:ext cx="10588745" cy="541856"/>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2600" kern="1200">
                <a:solidFill>
                  <a:schemeClr val="tx2"/>
                </a:solidFill>
                <a:latin typeface="+mn-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lang="en-US" dirty="0">
                <a:solidFill>
                  <a:srgbClr val="222C39"/>
                </a:solidFill>
                <a:latin typeface="Roboto Light"/>
              </a:rPr>
              <a:t>A set of safe and riskier compositions were recommended</a:t>
            </a:r>
            <a:endParaRPr kumimoji="0" lang="en-US" sz="2600" b="0" i="0" u="none" strike="noStrike" kern="1200" cap="none" spc="0" normalizeH="0" baseline="0" noProof="0" dirty="0">
              <a:ln>
                <a:noFill/>
              </a:ln>
              <a:solidFill>
                <a:srgbClr val="222C39"/>
              </a:solidFill>
              <a:effectLst/>
              <a:uLnTx/>
              <a:uFillTx/>
              <a:latin typeface="Roboto Light"/>
              <a:ea typeface="+mn-ea"/>
              <a:cs typeface="+mn-cs"/>
            </a:endParaRPr>
          </a:p>
        </p:txBody>
      </p:sp>
      <p:sp>
        <p:nvSpPr>
          <p:cNvPr id="9" name="Text Placeholder 5">
            <a:extLst>
              <a:ext uri="{FF2B5EF4-FFF2-40B4-BE49-F238E27FC236}">
                <a16:creationId xmlns:a16="http://schemas.microsoft.com/office/drawing/2014/main" id="{E556B0B1-77FC-38EF-F019-AD45BF35F903}"/>
              </a:ext>
            </a:extLst>
          </p:cNvPr>
          <p:cNvSpPr txBox="1">
            <a:spLocks/>
          </p:cNvSpPr>
          <p:nvPr/>
        </p:nvSpPr>
        <p:spPr>
          <a:xfrm>
            <a:off x="803276" y="337979"/>
            <a:ext cx="10573957" cy="246221"/>
          </a:xfrm>
          <a:prstGeom prst="rect">
            <a:avLst/>
          </a:prstGeom>
        </p:spPr>
        <p:txBody>
          <a:bodyPr vert="horz" lIns="0" tIns="0" rIns="0" bIns="0" rtlCol="0" anchor="t" anchorCtr="0">
            <a:normAutofit/>
          </a:bodyPr>
          <a:lstStyle>
            <a:lvl1pPr marL="0" indent="0" algn="l" defTabSz="914354" rtl="0" eaLnBrk="1" latinLnBrk="0" hangingPunct="1">
              <a:lnSpc>
                <a:spcPct val="100000"/>
              </a:lnSpc>
              <a:spcBef>
                <a:spcPts val="0"/>
              </a:spcBef>
              <a:spcAft>
                <a:spcPts val="2000"/>
              </a:spcAft>
              <a:buFont typeface="Arial" panose="020B0604020202020204" pitchFamily="34" charset="0"/>
              <a:buNone/>
              <a:defRPr sz="1600" b="1" i="0" kern="1200">
                <a:solidFill>
                  <a:schemeClr val="tx2"/>
                </a:solidFill>
                <a:latin typeface="+mj-lt"/>
                <a:ea typeface="+mn-ea"/>
                <a:cs typeface="+mn-cs"/>
              </a:defRPr>
            </a:lvl1pPr>
            <a:lvl2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2pPr>
            <a:lvl3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3pPr>
            <a:lvl4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4pPr>
            <a:lvl5pPr marL="143992" indent="0" algn="l" defTabSz="914354" rtl="0" eaLnBrk="1" latinLnBrk="0" hangingPunct="1">
              <a:lnSpc>
                <a:spcPct val="100000"/>
              </a:lnSpc>
              <a:spcBef>
                <a:spcPts val="0"/>
              </a:spcBef>
              <a:spcAft>
                <a:spcPts val="0"/>
              </a:spcAft>
              <a:buFont typeface="Arial" panose="020B0604020202020204" pitchFamily="34" charset="0"/>
              <a:buNone/>
              <a:defRPr sz="1200" kern="1200">
                <a:solidFill>
                  <a:schemeClr val="tx2"/>
                </a:solidFill>
                <a:latin typeface="+mn-lt"/>
                <a:ea typeface="+mn-ea"/>
                <a:cs typeface="+mn-cs"/>
              </a:defRPr>
            </a:lvl5pPr>
            <a:lvl6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6pPr>
            <a:lvl7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7pPr>
            <a:lvl8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8pPr>
            <a:lvl9pPr marL="143992" indent="-143992" algn="l" defTabSz="914354" rtl="0" eaLnBrk="1" latinLnBrk="0" hangingPunct="1">
              <a:lnSpc>
                <a:spcPts val="1500"/>
              </a:lnSpc>
              <a:spcBef>
                <a:spcPts val="0"/>
              </a:spcBef>
              <a:spcAft>
                <a:spcPts val="10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0"/>
              </a:spcBef>
              <a:spcAft>
                <a:spcPts val="20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222C39"/>
                </a:solidFill>
                <a:effectLst/>
                <a:uLnTx/>
                <a:uFillTx/>
                <a:latin typeface="Roboto"/>
                <a:ea typeface="+mn-ea"/>
                <a:cs typeface="+mn-cs"/>
              </a:rPr>
              <a:t>Approach</a:t>
            </a:r>
          </a:p>
        </p:txBody>
      </p:sp>
      <p:pic>
        <p:nvPicPr>
          <p:cNvPr id="19" name="Picture 18">
            <a:extLst>
              <a:ext uri="{FF2B5EF4-FFF2-40B4-BE49-F238E27FC236}">
                <a16:creationId xmlns:a16="http://schemas.microsoft.com/office/drawing/2014/main" id="{F9EE9077-3C0B-E1F1-EB97-334D61BFBF00}"/>
              </a:ext>
            </a:extLst>
          </p:cNvPr>
          <p:cNvPicPr>
            <a:picLocks noChangeAspect="1"/>
          </p:cNvPicPr>
          <p:nvPr/>
        </p:nvPicPr>
        <p:blipFill>
          <a:blip r:embed="rId3"/>
          <a:srcRect t="6256"/>
          <a:stretch>
            <a:fillRect/>
          </a:stretch>
        </p:blipFill>
        <p:spPr>
          <a:xfrm>
            <a:off x="6231057" y="1743104"/>
            <a:ext cx="5172075" cy="3562694"/>
          </a:xfrm>
          <a:prstGeom prst="rect">
            <a:avLst/>
          </a:prstGeom>
        </p:spPr>
      </p:pic>
      <p:pic>
        <p:nvPicPr>
          <p:cNvPr id="21" name="Picture 20">
            <a:extLst>
              <a:ext uri="{FF2B5EF4-FFF2-40B4-BE49-F238E27FC236}">
                <a16:creationId xmlns:a16="http://schemas.microsoft.com/office/drawing/2014/main" id="{2244D6FE-F8D0-28C4-E1B5-9270F6627A4B}"/>
              </a:ext>
            </a:extLst>
          </p:cNvPr>
          <p:cNvPicPr>
            <a:picLocks noChangeAspect="1"/>
          </p:cNvPicPr>
          <p:nvPr/>
        </p:nvPicPr>
        <p:blipFill>
          <a:blip r:embed="rId4"/>
          <a:srcRect t="6256"/>
          <a:stretch>
            <a:fillRect/>
          </a:stretch>
        </p:blipFill>
        <p:spPr>
          <a:xfrm>
            <a:off x="815843" y="1743104"/>
            <a:ext cx="5095875" cy="3562693"/>
          </a:xfrm>
          <a:prstGeom prst="rect">
            <a:avLst/>
          </a:prstGeom>
        </p:spPr>
      </p:pic>
      <p:sp>
        <p:nvSpPr>
          <p:cNvPr id="24" name="TextBox 23">
            <a:extLst>
              <a:ext uri="{FF2B5EF4-FFF2-40B4-BE49-F238E27FC236}">
                <a16:creationId xmlns:a16="http://schemas.microsoft.com/office/drawing/2014/main" id="{E5144125-DEE9-B179-6AE7-2F0A84F9F798}"/>
              </a:ext>
            </a:extLst>
          </p:cNvPr>
          <p:cNvSpPr txBox="1"/>
          <p:nvPr/>
        </p:nvSpPr>
        <p:spPr>
          <a:xfrm>
            <a:off x="803276" y="1290003"/>
            <a:ext cx="5095493" cy="453102"/>
          </a:xfrm>
          <a:prstGeom prst="rect">
            <a:avLst/>
          </a:prstGeom>
          <a:solidFill>
            <a:schemeClr val="bg2">
              <a:lumMod val="90000"/>
            </a:schemeClr>
          </a:solidFill>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Design Space in 2-D with predictions</a:t>
            </a:r>
          </a:p>
        </p:txBody>
      </p:sp>
      <p:sp>
        <p:nvSpPr>
          <p:cNvPr id="25" name="TextBox 24">
            <a:extLst>
              <a:ext uri="{FF2B5EF4-FFF2-40B4-BE49-F238E27FC236}">
                <a16:creationId xmlns:a16="http://schemas.microsoft.com/office/drawing/2014/main" id="{5698B53A-A0E9-223C-C691-28BDD5C31F11}"/>
              </a:ext>
            </a:extLst>
          </p:cNvPr>
          <p:cNvSpPr txBox="1"/>
          <p:nvPr/>
        </p:nvSpPr>
        <p:spPr>
          <a:xfrm>
            <a:off x="6307639" y="1290002"/>
            <a:ext cx="5095493" cy="453102"/>
          </a:xfrm>
          <a:prstGeom prst="rect">
            <a:avLst/>
          </a:prstGeom>
          <a:solidFill>
            <a:schemeClr val="accent6">
              <a:lumMod val="20000"/>
              <a:lumOff val="80000"/>
            </a:schemeClr>
          </a:solidFill>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222C39"/>
                </a:solidFill>
                <a:effectLst/>
                <a:uLnTx/>
                <a:uFillTx/>
                <a:latin typeface="Roboto"/>
              </a:rPr>
              <a:t>Recommendations in 2-D</a:t>
            </a:r>
          </a:p>
        </p:txBody>
      </p:sp>
      <p:sp>
        <p:nvSpPr>
          <p:cNvPr id="26" name="TextBox 25">
            <a:extLst>
              <a:ext uri="{FF2B5EF4-FFF2-40B4-BE49-F238E27FC236}">
                <a16:creationId xmlns:a16="http://schemas.microsoft.com/office/drawing/2014/main" id="{DA0A23A1-799A-1A7B-FD21-E20DE98CA4D4}"/>
              </a:ext>
            </a:extLst>
          </p:cNvPr>
          <p:cNvSpPr txBox="1"/>
          <p:nvPr/>
        </p:nvSpPr>
        <p:spPr>
          <a:xfrm>
            <a:off x="814386" y="5305797"/>
            <a:ext cx="10561771"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Roboto Light" panose="02000000000000000000" pitchFamily="2" charset="0"/>
                <a:ea typeface="Roboto Light" panose="02000000000000000000" pitchFamily="2" charset="0"/>
                <a:cs typeface="Roboto Light" panose="02000000000000000000" pitchFamily="2" charset="0"/>
              </a:rPr>
              <a:t>The design space shows a large set of </a:t>
            </a:r>
            <a:r>
              <a:rPr lang="en-US" sz="1600" dirty="0" err="1">
                <a:latin typeface="Roboto Light" panose="02000000000000000000" pitchFamily="2" charset="0"/>
                <a:ea typeface="Roboto Light" panose="02000000000000000000" pitchFamily="2" charset="0"/>
                <a:cs typeface="Roboto Light" panose="02000000000000000000" pitchFamily="2" charset="0"/>
              </a:rPr>
              <a:t>flavour</a:t>
            </a:r>
            <a:r>
              <a:rPr lang="en-US" sz="1600" dirty="0">
                <a:latin typeface="Roboto Light" panose="02000000000000000000" pitchFamily="2" charset="0"/>
                <a:ea typeface="Roboto Light" panose="02000000000000000000" pitchFamily="2" charset="0"/>
                <a:cs typeface="Roboto Light" panose="02000000000000000000" pitchFamily="2" charset="0"/>
              </a:rPr>
              <a:t> combinations that remain unexplored. Predictions for these areas carry higher uncertainty, but they also represent potential opportunities for market differentiation.</a:t>
            </a:r>
          </a:p>
          <a:p>
            <a:pPr marL="285750" indent="-285750">
              <a:buFont typeface="Arial" panose="020B0604020202020204" pitchFamily="34" charset="0"/>
              <a:buChar char="•"/>
            </a:pPr>
            <a:r>
              <a:rPr lang="en-US" sz="1600" dirty="0">
                <a:latin typeface="Roboto Light" panose="02000000000000000000" pitchFamily="2" charset="0"/>
                <a:ea typeface="Roboto Light" panose="02000000000000000000" pitchFamily="2" charset="0"/>
                <a:cs typeface="Roboto Light" panose="02000000000000000000" pitchFamily="2" charset="0"/>
              </a:rPr>
              <a:t>Fruity, in particular, is significantly under‑explored, so we identified its most promising new combinations for exploration, alongside the best‑predicted composition for immediate exploitation.</a:t>
            </a:r>
            <a:endParaRPr lang="en-IN" sz="1600" dirty="0">
              <a:latin typeface="Roboto Light" panose="02000000000000000000" pitchFamily="2" charset="0"/>
              <a:ea typeface="Roboto Light" panose="02000000000000000000" pitchFamily="2" charset="0"/>
              <a:cs typeface="Roboto Light" panose="02000000000000000000" pitchFamily="2" charset="0"/>
            </a:endParaRPr>
          </a:p>
        </p:txBody>
      </p:sp>
    </p:spTree>
    <p:extLst>
      <p:ext uri="{BB962C8B-B14F-4D97-AF65-F5344CB8AC3E}">
        <p14:creationId xmlns:p14="http://schemas.microsoft.com/office/powerpoint/2010/main" val="2912181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TotalTime>
  <Words>499</Words>
  <Application>Microsoft Office PowerPoint</Application>
  <PresentationFormat>Widescreen</PresentationFormat>
  <Paragraphs>84</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Roboto</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sanchit jain</dc:creator>
  <cp:lastModifiedBy>sanchit jain</cp:lastModifiedBy>
  <cp:revision>5</cp:revision>
  <dcterms:created xsi:type="dcterms:W3CDTF">2026-02-17T12:55:43Z</dcterms:created>
  <dcterms:modified xsi:type="dcterms:W3CDTF">2026-02-17T19:46:41Z</dcterms:modified>
</cp:coreProperties>
</file>